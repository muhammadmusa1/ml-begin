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097280"/>
            <a:ext cx="1371600" cy="137160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920240"/>
            <a:ext cx="1371600" cy="1371600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2743200"/>
            <a:ext cx="1371600" cy="137160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 · НЕДЕЛЯ 5 · КЛАССИЧЕСКИЕ АЛГОРИТМЫ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Случайный лес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9436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деревьев умнее одного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 · 90 минут · 30% теория / 70% практика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Мудрость толпы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 с банкой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тайно пишет догадку: сколько фасолин в банке.
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среднее всех догадок класса.
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почти всегда ближе к правде, чем большинство отдельных ответов.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96535" cy="4206240"/>
          </a:xfrm>
          <a:prstGeom prst="roundRect">
            <a:avLst>
              <a:gd name="adj" fmla="val 2609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работает?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66560" y="2651760"/>
            <a:ext cx="473933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отдельных людей случайны и в разные стороны. При усреднении они гасят друг друга — остаётся верный сигнал.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66560" y="4206240"/>
            <a:ext cx="473933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соберём такую «толпу» из деревьев решений.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НАПОМИНАНИЕ · УРОК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дерево «зазубривает»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4688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9436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TRAIN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4206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будто списал с ответов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201168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2C2552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4688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649224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TEST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4206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 проверка — проседает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57784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между train и test = переобучение. Дерево запомнило конкретных пассажиров, а не общее правило.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· 10–30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леса: разнообразие + голосование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выборка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дерево учится на своей случайной части примеров («своя корзина»).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241E42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94560"/>
            <a:ext cx="640080" cy="64008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2240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Случайные признаки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9718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вопросе дерево выбирает из случайного набора признаков, а не из всех.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192024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2C2552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194560"/>
            <a:ext cx="640080" cy="64008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89720" y="2240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Голосование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29718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деревья голосуют — ответ большинства и есть предсказание леса.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4937760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Деревья разные → ошибаются по-разному → при голосовании случайные ошибки взаимно гасятся.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Голосование класса точнее одного мнения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377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эксперт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31089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ошибиться —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ошибиться уверенно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4572000"/>
            <a:ext cx="822960" cy="82296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92240" y="201168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241E42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377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Целый класс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31089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голосует — и в среднем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более верный ответ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0" y="4572000"/>
            <a:ext cx="822960" cy="82296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РУЧКА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— сколько деревьев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11002975" cy="2011680"/>
          </a:xfrm>
          <a:prstGeom prst="roundRect">
            <a:avLst>
              <a:gd name="adj" fmla="val 5455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102714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точность растёт с числом деревьев…  потом выходит на ПЛАТО.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88036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 → 10 → 50 → 100 → 300 деревьев: прирост быстро замедляется, а расчёт становится дольше.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4206240"/>
            <a:ext cx="11002975" cy="1645920"/>
          </a:xfrm>
          <a:prstGeom prst="roundRect">
            <a:avLst>
              <a:gd name="adj" fmla="val 6667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43484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деревьев ≠ всегда лучше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5029200"/>
            <a:ext cx="102714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Деревья дают устойчивость (стабильный ответ), а не бесконечный рост точности.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что смотрит лес: важность признаков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88920" y="2039112"/>
            <a:ext cx="2880360" cy="310896"/>
          </a:xfrm>
          <a:prstGeom prst="roundRect">
            <a:avLst>
              <a:gd name="adj" fmla="val 14706"/>
            </a:avLst>
          </a:prstGeom>
          <a:solidFill>
            <a:srgbClr val="27D3E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каюты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88920" y="2587752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8B7DF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билета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88920" y="3136392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5B4FC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657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88920" y="3685032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5B4FC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семья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88920" y="4233672"/>
            <a:ext cx="411480" cy="310896"/>
          </a:xfrm>
          <a:prstGeom prst="roundRect">
            <a:avLst>
              <a:gd name="adj" fmla="val 14706"/>
            </a:avLst>
          </a:prstGeom>
          <a:solidFill>
            <a:srgbClr val="5B4FC4"/>
          </a:solidFill>
          <a:ln/>
        </p:spPr>
      </p:sp>
      <p:sp>
        <p:nvSpPr>
          <p:cNvPr id="14" name="Shape 12"/>
          <p:cNvSpPr/>
          <p:nvPr/>
        </p:nvSpPr>
        <p:spPr>
          <a:xfrm>
            <a:off x="9692640" y="1920240"/>
            <a:ext cx="1904695" cy="3108960"/>
          </a:xfrm>
          <a:prstGeom prst="roundRect">
            <a:avLst>
              <a:gd name="adj" fmla="val 5761"/>
            </a:avLst>
          </a:prstGeom>
          <a:solidFill>
            <a:srgbClr val="2C2552"/>
          </a:solidFill>
          <a:ln/>
        </p:spPr>
      </p:sp>
      <p:sp>
        <p:nvSpPr>
          <p:cNvPr id="15" name="Text 13"/>
          <p:cNvSpPr/>
          <p:nvPr/>
        </p:nvSpPr>
        <p:spPr>
          <a:xfrm>
            <a:off x="992124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921240" y="2651760"/>
            <a:ext cx="144749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важность признака — это НЕ доказательство причины. Только «модель часто им пользовалась».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· СОРЕВНОВАНИЕ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Турнир: KNN vs Дерево vs Лес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3362858" cy="3474720"/>
          </a:xfrm>
          <a:prstGeom prst="roundRect">
            <a:avLst>
              <a:gd name="adj" fmla="val 3263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377440"/>
            <a:ext cx="33628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94360" y="3108960"/>
            <a:ext cx="3362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4480560"/>
            <a:ext cx="299709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чувствителен к масштабу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14418" y="2103120"/>
            <a:ext cx="3362858" cy="3474720"/>
          </a:xfrm>
          <a:prstGeom prst="roundRect">
            <a:avLst>
              <a:gd name="adj" fmla="val 3263"/>
            </a:avLst>
          </a:prstGeom>
          <a:solidFill>
            <a:srgbClr val="241E42"/>
          </a:solidFill>
          <a:ln/>
        </p:spPr>
      </p:sp>
      <p:sp>
        <p:nvSpPr>
          <p:cNvPr id="9" name="Text 7"/>
          <p:cNvSpPr/>
          <p:nvPr/>
        </p:nvSpPr>
        <p:spPr>
          <a:xfrm>
            <a:off x="4414418" y="2377440"/>
            <a:ext cx="33628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414418" y="3108960"/>
            <a:ext cx="3362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76.0%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597298" y="4480560"/>
            <a:ext cx="299709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переобучается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34477" y="2103120"/>
            <a:ext cx="3362858" cy="3474720"/>
          </a:xfrm>
          <a:prstGeom prst="roundRect">
            <a:avLst>
              <a:gd name="adj" fmla="val 3263"/>
            </a:avLst>
          </a:prstGeom>
          <a:solidFill>
            <a:srgbClr val="2C2552"/>
          </a:solidFill>
          <a:ln/>
        </p:spPr>
      </p:sp>
      <p:sp>
        <p:nvSpPr>
          <p:cNvPr id="13" name="Text 11"/>
          <p:cNvSpPr/>
          <p:nvPr/>
        </p:nvSpPr>
        <p:spPr>
          <a:xfrm>
            <a:off x="8234477" y="2377440"/>
            <a:ext cx="33628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 (100)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34477" y="3108960"/>
            <a:ext cx="3362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80.4%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417357" y="4480560"/>
            <a:ext cx="299709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победитель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95866" y="5074920"/>
            <a:ext cx="640080" cy="64008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9595866" y="5074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 · 80–90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унесём с урока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вывода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 = много разных деревьев + голосование
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Сила не в количестве, а в разнообразии
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Важность признака ≠ причина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1920240"/>
            <a:ext cx="5150815" cy="4023360"/>
          </a:xfrm>
          <a:prstGeom prst="roundRect">
            <a:avLst>
              <a:gd name="adj" fmla="val 2727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2743200"/>
            <a:ext cx="45107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Обучить лес на своём датасете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топ-5 важных признаков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 письменно самый важный признак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n_estimators, где начинается плато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2026-07-06T16:10:11Z</dcterms:created>
  <dcterms:modified xsi:type="dcterms:W3CDTF">2026-07-06T16:10:11Z</dcterms:modified>
</cp:coreProperties>
</file>