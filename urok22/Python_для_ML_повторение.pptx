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ПОВТОРЕНИЕ ПЕРЕД ФИНАЛОМ</a:t>
            </a:r>
            <a:endParaRPr lang="en-US" sz="1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для ML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640080" y="3794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Быстрое повторение с проверкой знаний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4526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Всё, что нужно, чтобы уверенно писать код финального проекта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0" y="5486400"/>
            <a:ext cx="1280160" cy="274320"/>
          </a:xfrm>
          <a:prstGeom prst="roundRect">
            <a:avLst>
              <a:gd name="adj" fmla="val 40000"/>
            </a:avLst>
          </a:prstGeom>
          <a:solidFill>
            <a:srgbClr val="27D3EE"/>
          </a:solidFill>
          <a:ln/>
        </p:spPr>
      </p:sp>
      <p:sp>
        <p:nvSpPr>
          <p:cNvPr id="8" name="Shape 5"/>
          <p:cNvSpPr/>
          <p:nvPr/>
        </p:nvSpPr>
        <p:spPr>
          <a:xfrm>
            <a:off x="7040880" y="5486400"/>
            <a:ext cx="1280160" cy="274320"/>
          </a:xfrm>
          <a:prstGeom prst="roundRect">
            <a:avLst>
              <a:gd name="adj" fmla="val 40000"/>
            </a:avLst>
          </a:prstGeom>
          <a:solidFill>
            <a:srgbClr val="8B7DF5"/>
          </a:solidFill>
          <a:ln/>
        </p:spPr>
      </p:sp>
      <p:sp>
        <p:nvSpPr>
          <p:cNvPr id="9" name="Shape 6"/>
          <p:cNvSpPr/>
          <p:nvPr/>
        </p:nvSpPr>
        <p:spPr>
          <a:xfrm>
            <a:off x="8595360" y="5486400"/>
            <a:ext cx="1280160" cy="274320"/>
          </a:xfrm>
          <a:prstGeom prst="roundRect">
            <a:avLst>
              <a:gd name="adj" fmla="val 40000"/>
            </a:avLst>
          </a:prstGeom>
          <a:solidFill>
            <a:srgbClr val="2DD4BF"/>
          </a:solidFill>
          <a:ln/>
        </p:spPr>
      </p:sp>
      <p:sp>
        <p:nvSpPr>
          <p:cNvPr id="10" name="Shape 7"/>
          <p:cNvSpPr/>
          <p:nvPr/>
        </p:nvSpPr>
        <p:spPr>
          <a:xfrm>
            <a:off x="10149840" y="5486400"/>
            <a:ext cx="1280160" cy="274320"/>
          </a:xfrm>
          <a:prstGeom prst="roundRect">
            <a:avLst>
              <a:gd name="adj" fmla="val 40000"/>
            </a:avLst>
          </a:prstGeom>
          <a:solidFill>
            <a:srgbClr val="F7C94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ПОВТОРИМ</a:t>
            </a:r>
            <a:endParaRPr lang="en-US" sz="1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6858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кирпичиков + pandas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3520440" cy="1097280"/>
          </a:xfrm>
          <a:prstGeom prst="roundRect">
            <a:avLst>
              <a:gd name="adj" fmla="val 8333"/>
            </a:avLst>
          </a:prstGeom>
          <a:solidFill>
            <a:srgbClr val="241E42"/>
          </a:solidFill>
          <a:ln/>
        </p:spPr>
      </p:sp>
      <p:sp>
        <p:nvSpPr>
          <p:cNvPr id="6" name="Shape 3"/>
          <p:cNvSpPr/>
          <p:nvPr/>
        </p:nvSpPr>
        <p:spPr>
          <a:xfrm>
            <a:off x="896112" y="2121408"/>
            <a:ext cx="512064" cy="512064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24942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18288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Переменные и типы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343400" y="1828800"/>
            <a:ext cx="3520440" cy="1097280"/>
          </a:xfrm>
          <a:prstGeom prst="roundRect">
            <a:avLst>
              <a:gd name="adj" fmla="val 8333"/>
            </a:avLst>
          </a:prstGeom>
          <a:solidFill>
            <a:srgbClr val="241E42"/>
          </a:solidFill>
          <a:ln/>
        </p:spPr>
      </p:sp>
      <p:sp>
        <p:nvSpPr>
          <p:cNvPr id="10" name="Shape 6"/>
          <p:cNvSpPr/>
          <p:nvPr/>
        </p:nvSpPr>
        <p:spPr>
          <a:xfrm>
            <a:off x="4599432" y="2121408"/>
            <a:ext cx="512064" cy="512064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224942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03520" y="18288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Списки и срезы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046720" y="1828800"/>
            <a:ext cx="3520440" cy="1097280"/>
          </a:xfrm>
          <a:prstGeom prst="roundRect">
            <a:avLst>
              <a:gd name="adj" fmla="val 8333"/>
            </a:avLst>
          </a:prstGeom>
          <a:solidFill>
            <a:srgbClr val="241E42"/>
          </a:solidFill>
          <a:ln/>
        </p:spPr>
      </p:sp>
      <p:sp>
        <p:nvSpPr>
          <p:cNvPr id="14" name="Shape 9"/>
          <p:cNvSpPr/>
          <p:nvPr/>
        </p:nvSpPr>
        <p:spPr>
          <a:xfrm>
            <a:off x="8302752" y="2121408"/>
            <a:ext cx="512064" cy="512064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768" y="2249424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006840" y="18288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Словари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640080" y="3154680"/>
            <a:ext cx="3520440" cy="1097280"/>
          </a:xfrm>
          <a:prstGeom prst="roundRect">
            <a:avLst>
              <a:gd name="adj" fmla="val 8333"/>
            </a:avLst>
          </a:prstGeom>
          <a:solidFill>
            <a:srgbClr val="241E42"/>
          </a:solidFill>
          <a:ln/>
        </p:spPr>
      </p:sp>
      <p:sp>
        <p:nvSpPr>
          <p:cNvPr id="18" name="Shape 12"/>
          <p:cNvSpPr/>
          <p:nvPr/>
        </p:nvSpPr>
        <p:spPr>
          <a:xfrm>
            <a:off x="896112" y="3447288"/>
            <a:ext cx="512064" cy="512064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3575304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600200" y="31546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Условия if/else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4343400" y="3154680"/>
            <a:ext cx="3520440" cy="1097280"/>
          </a:xfrm>
          <a:prstGeom prst="roundRect">
            <a:avLst>
              <a:gd name="adj" fmla="val 8333"/>
            </a:avLst>
          </a:prstGeom>
          <a:solidFill>
            <a:srgbClr val="241E42"/>
          </a:solidFill>
          <a:ln/>
        </p:spPr>
      </p:sp>
      <p:sp>
        <p:nvSpPr>
          <p:cNvPr id="22" name="Shape 15"/>
          <p:cNvSpPr/>
          <p:nvPr/>
        </p:nvSpPr>
        <p:spPr>
          <a:xfrm>
            <a:off x="4599432" y="3447288"/>
            <a:ext cx="512064" cy="512064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448" y="3575304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303520" y="31546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Циклы for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8046720" y="3154680"/>
            <a:ext cx="3520440" cy="1097280"/>
          </a:xfrm>
          <a:prstGeom prst="roundRect">
            <a:avLst>
              <a:gd name="adj" fmla="val 8333"/>
            </a:avLst>
          </a:prstGeom>
          <a:solidFill>
            <a:srgbClr val="241E42"/>
          </a:solidFill>
          <a:ln/>
        </p:spPr>
      </p:sp>
      <p:sp>
        <p:nvSpPr>
          <p:cNvPr id="26" name="Shape 18"/>
          <p:cNvSpPr/>
          <p:nvPr/>
        </p:nvSpPr>
        <p:spPr>
          <a:xfrm>
            <a:off x="8302752" y="3447288"/>
            <a:ext cx="512064" cy="512064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0768" y="3575304"/>
            <a:ext cx="256032" cy="25603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9006840" y="31546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Функции def</a:t>
            </a:r>
            <a:endParaRPr lang="en-US" sz="1500" dirty="0"/>
          </a:p>
        </p:txBody>
      </p:sp>
      <p:sp>
        <p:nvSpPr>
          <p:cNvPr id="29" name="Shape 20"/>
          <p:cNvSpPr/>
          <p:nvPr/>
        </p:nvSpPr>
        <p:spPr>
          <a:xfrm>
            <a:off x="640080" y="4480560"/>
            <a:ext cx="3520440" cy="1097280"/>
          </a:xfrm>
          <a:prstGeom prst="roundRect">
            <a:avLst>
              <a:gd name="adj" fmla="val 8333"/>
            </a:avLst>
          </a:prstGeom>
          <a:solidFill>
            <a:srgbClr val="241E42"/>
          </a:solidFill>
          <a:ln/>
        </p:spPr>
      </p:sp>
      <p:sp>
        <p:nvSpPr>
          <p:cNvPr id="30" name="Shape 21"/>
          <p:cNvSpPr/>
          <p:nvPr/>
        </p:nvSpPr>
        <p:spPr>
          <a:xfrm>
            <a:off x="896112" y="4773168"/>
            <a:ext cx="512064" cy="512064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" y="4901184"/>
            <a:ext cx="256032" cy="25603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600200" y="44805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f-строки и print</a:t>
            </a:r>
            <a:endParaRPr lang="en-US" sz="1500" dirty="0"/>
          </a:p>
        </p:txBody>
      </p:sp>
      <p:sp>
        <p:nvSpPr>
          <p:cNvPr id="33" name="Shape 23"/>
          <p:cNvSpPr/>
          <p:nvPr/>
        </p:nvSpPr>
        <p:spPr>
          <a:xfrm>
            <a:off x="4343400" y="4480560"/>
            <a:ext cx="3520440" cy="1097280"/>
          </a:xfrm>
          <a:prstGeom prst="roundRect">
            <a:avLst>
              <a:gd name="adj" fmla="val 8333"/>
            </a:avLst>
          </a:prstGeom>
          <a:solidFill>
            <a:srgbClr val="241E42"/>
          </a:solidFill>
          <a:ln/>
        </p:spPr>
      </p:sp>
      <p:sp>
        <p:nvSpPr>
          <p:cNvPr id="34" name="Shape 24"/>
          <p:cNvSpPr/>
          <p:nvPr/>
        </p:nvSpPr>
        <p:spPr>
          <a:xfrm>
            <a:off x="4599432" y="4773168"/>
            <a:ext cx="512064" cy="512064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27448" y="4901184"/>
            <a:ext cx="256032" cy="25603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303520" y="44805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Импорт библиотек</a:t>
            </a:r>
            <a:endParaRPr lang="en-US" sz="1500" dirty="0"/>
          </a:p>
        </p:txBody>
      </p:sp>
      <p:sp>
        <p:nvSpPr>
          <p:cNvPr id="37" name="Shape 26"/>
          <p:cNvSpPr/>
          <p:nvPr/>
        </p:nvSpPr>
        <p:spPr>
          <a:xfrm>
            <a:off x="8046720" y="4480560"/>
            <a:ext cx="3520440" cy="1097280"/>
          </a:xfrm>
          <a:prstGeom prst="roundRect">
            <a:avLst>
              <a:gd name="adj" fmla="val 8333"/>
            </a:avLst>
          </a:prstGeom>
          <a:solidFill>
            <a:srgbClr val="241E42"/>
          </a:solidFill>
          <a:ln/>
        </p:spPr>
      </p:sp>
      <p:sp>
        <p:nvSpPr>
          <p:cNvPr id="38" name="Shape 27"/>
          <p:cNvSpPr/>
          <p:nvPr/>
        </p:nvSpPr>
        <p:spPr>
          <a:xfrm>
            <a:off x="8302752" y="4773168"/>
            <a:ext cx="512064" cy="512064"/>
          </a:xfrm>
          <a:prstGeom prst="ellipse">
            <a:avLst/>
          </a:prstGeom>
          <a:solidFill>
            <a:srgbClr val="2C2552"/>
          </a:solidFill>
          <a:ln/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30768" y="4901184"/>
            <a:ext cx="256032" cy="256032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9006840" y="44805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pandas: таблицы</a:t>
            </a:r>
            <a:endParaRPr lang="en-US" sz="1500" dirty="0"/>
          </a:p>
        </p:txBody>
      </p:sp>
      <p:sp>
        <p:nvSpPr>
          <p:cNvPr id="41" name="Text 29"/>
          <p:cNvSpPr/>
          <p:nvPr/>
        </p:nvSpPr>
        <p:spPr>
          <a:xfrm>
            <a:off x="640080" y="62636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каждом слайде — мини-вопрос «проверь себя». В конце — квиз на 5 вопросов.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КИРПИЧИК 1 · ПЕРЕМЕННЫЕ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Переменные и типы данных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68580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37360"/>
            <a:ext cx="10881360" cy="2834640"/>
          </a:xfrm>
          <a:prstGeom prst="roundRect">
            <a:avLst>
              <a:gd name="adj" fmla="val 3226"/>
            </a:avLst>
          </a:prstGeom>
          <a:solidFill>
            <a:srgbClr val="0E0B22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874520"/>
            <a:ext cx="10424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E9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15          # int — целое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E9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4.5       # float — дробное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E9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"Аня"      # str — текст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E9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 = True     # bool — да/нет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48920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241E42"/>
          </a:solidFill>
          <a:ln w="19050">
            <a:solidFill>
              <a:srgbClr val="F7C94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038344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5001768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себя:  </a:t>
            </a:r>
            <a:pPr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Какой тип у значения 3.0 и у '5'?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417320" y="544068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Ответ: </a:t>
            </a:r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— float, '5' — str (в кавычках = текст).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0080" y="62636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определяет, что можно делать со значением. "5" + 5 — ошибка!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КИРПИЧИК 2 · СПИСКИ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Списки: индексы и срезы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68580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37360"/>
            <a:ext cx="10881360" cy="2834640"/>
          </a:xfrm>
          <a:prstGeom prst="roundRect">
            <a:avLst>
              <a:gd name="adj" fmla="val 3226"/>
            </a:avLst>
          </a:prstGeom>
          <a:solidFill>
            <a:srgbClr val="0E0B22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874520"/>
            <a:ext cx="10424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7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[10, 20, 30, 40]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E9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nums[0]     # 10  (счёт с нуля!)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E9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nums[-1]    # 40  (последний)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E9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nums[1:3]   # [20, 30]  (срез)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E9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len(nums)   # 4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48920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241E42"/>
          </a:solidFill>
          <a:ln w="19050">
            <a:solidFill>
              <a:srgbClr val="F7C94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038344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5001768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себя:  </a:t>
            </a:r>
            <a:pPr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вернёт nums[1:3] и nums[-1]?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417320" y="544068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Ответ: </a:t>
            </a:r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nums[1:3] = [20, 30], nums[-1] = 40.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0080" y="62636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Индексация с 0 — самая частая путаница у новичков.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КИРПИЧИК 3 · СЛОВАРИ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Словари: ключ → значение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68580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37360"/>
            <a:ext cx="10881360" cy="2834640"/>
          </a:xfrm>
          <a:prstGeom prst="roundRect">
            <a:avLst>
              <a:gd name="adj" fmla="val 3226"/>
            </a:avLst>
          </a:prstGeom>
          <a:solidFill>
            <a:srgbClr val="0E0B22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874520"/>
            <a:ext cx="10424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7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= {"name": "Аня", "age": 15}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E9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student["name"]   # "Аня"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E9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student["age"]    # 15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E9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как строка в таблице: колонка → значение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48920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241E42"/>
          </a:solidFill>
          <a:ln w="19050">
            <a:solidFill>
              <a:srgbClr val="F7C94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038344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5001768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себя:  </a:t>
            </a:r>
            <a:pPr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получить возраст из словаря student?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417320" y="544068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Ответ: </a:t>
            </a:r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student["age"] → 15.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0080" y="62636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Словарь — прообраз строки данных в pandas.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КИРПИЧИК 4 · УСЛОВИЯ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Условия: if / elif / else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68580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37360"/>
            <a:ext cx="10881360" cy="2834640"/>
          </a:xfrm>
          <a:prstGeom prst="roundRect">
            <a:avLst>
              <a:gd name="adj" fmla="val 3226"/>
            </a:avLst>
          </a:prstGeom>
          <a:solidFill>
            <a:srgbClr val="0E0B22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874520"/>
            <a:ext cx="10424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7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&gt;= 4: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7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print("сдал")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7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score &gt;= 3: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7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print("зачёт")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7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7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print("пересдача")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48920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241E42"/>
          </a:solidFill>
          <a:ln w="19050">
            <a:solidFill>
              <a:srgbClr val="F7C94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038344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5001768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себя:  </a:t>
            </a:r>
            <a:pPr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3.5 — что выведет код?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417320" y="544068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Ответ: </a:t>
            </a:r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"зачёт" (3.5 ≥ 3, но &lt; 4).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0080" y="62636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Отступы обязательны — Python понимает блоки по ним.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КИРПИЧИК 5 · ЦИКЛЫ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Циклы: for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68580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37360"/>
            <a:ext cx="10881360" cy="2834640"/>
          </a:xfrm>
          <a:prstGeom prst="roundRect">
            <a:avLst>
              <a:gd name="adj" fmla="val 3226"/>
            </a:avLst>
          </a:prstGeom>
          <a:solidFill>
            <a:srgbClr val="0E0B22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874520"/>
            <a:ext cx="10424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7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 in [1, 2, 3]: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7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 * 2)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E9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выведет: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E9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E9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E9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48920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241E42"/>
          </a:solidFill>
          <a:ln w="19050">
            <a:solidFill>
              <a:srgbClr val="F7C94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038344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5001768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себя:  </a:t>
            </a:r>
            <a:pPr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раз выполнится for i in range(3)?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417320" y="544068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Ответ: </a:t>
            </a:r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раза (i = 0, 1, 2).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0080" y="62636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проходит по каждому элементу списка по очереди.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КИРПИЧИК 6 · ФУНКЦИИ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Функции: def и return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68580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37360"/>
            <a:ext cx="10881360" cy="2834640"/>
          </a:xfrm>
          <a:prstGeom prst="roundRect">
            <a:avLst>
              <a:gd name="adj" fmla="val 3226"/>
            </a:avLst>
          </a:prstGeom>
          <a:solidFill>
            <a:srgbClr val="0E0B22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874520"/>
            <a:ext cx="10424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7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square(x):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7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 * x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E9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square(5)   # 25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48920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241E42"/>
          </a:solidFill>
          <a:ln w="19050">
            <a:solidFill>
              <a:srgbClr val="F7C94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038344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5001768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себя:  </a:t>
            </a:r>
            <a:pPr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вернёт square(3)?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417320" y="544068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Ответ: </a:t>
            </a:r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(3 * 3).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0080" y="62636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в sklearn — это тоже «функция»: вход → предсказание.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КИРПИЧИК 7 · ВЫВОД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f-строки и print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68580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37360"/>
            <a:ext cx="10881360" cy="2834640"/>
          </a:xfrm>
          <a:prstGeom prst="roundRect">
            <a:avLst>
              <a:gd name="adj" fmla="val 3226"/>
            </a:avLst>
          </a:prstGeom>
          <a:solidFill>
            <a:srgbClr val="0E0B22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874520"/>
            <a:ext cx="10424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7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 = 0.88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7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print(f"Точность: {acc:.0%}")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E9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Точность: 88%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7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"Аня"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E9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print(f"Привет, {name}!")   # Привет, Аня!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48920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241E42"/>
          </a:solidFill>
          <a:ln w="19050">
            <a:solidFill>
              <a:srgbClr val="F7C94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038344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5001768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себя:  </a:t>
            </a:r>
            <a:pPr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выведет print(f"{2 + 2}")?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417320" y="544068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Ответ: </a:t>
            </a:r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"4" — внутри {} Python считает выражение.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0080" y="62636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f-строки удобны для красивого вывода метрик.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ML-СТЕК · ИМПОРТ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Импорт библиотек для ML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68580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37360"/>
            <a:ext cx="10881360" cy="2834640"/>
          </a:xfrm>
          <a:prstGeom prst="roundRect">
            <a:avLst>
              <a:gd name="adj" fmla="val 3226"/>
            </a:avLst>
          </a:prstGeom>
          <a:solidFill>
            <a:srgbClr val="0E0B22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874520"/>
            <a:ext cx="10424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E9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            # таблицы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E9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             # числа/массивы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E9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 # графики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7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sklearn.pipeline import Pipeline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48920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241E42"/>
          </a:solidFill>
          <a:ln w="19050">
            <a:solidFill>
              <a:srgbClr val="F7C94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038344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5001768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себя:  </a:t>
            </a:r>
            <a:pPr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делает import pandas as pd?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417320" y="544068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Ответ: </a:t>
            </a:r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Подключает pandas и даёт ему короткое имя pd.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0080" y="62636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pd — псевдоним, чтобы писать pd вместо pandas каждый раз.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ТАБЛИЦЫ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главное для проекта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68580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37360"/>
            <a:ext cx="10881360" cy="2834640"/>
          </a:xfrm>
          <a:prstGeom prst="roundRect">
            <a:avLst>
              <a:gd name="adj" fmla="val 3226"/>
            </a:avLst>
          </a:prstGeom>
          <a:solidFill>
            <a:srgbClr val="0E0B22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874520"/>
            <a:ext cx="10424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E9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pd.read_csv("data.csv")   # загрузить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E9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          # первые 5 строк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E9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df["age"]          # одна колонка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E96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df[df["age"] &gt; 10] # фильтр строк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48920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241E42"/>
          </a:solidFill>
          <a:ln w="19050">
            <a:solidFill>
              <a:srgbClr val="F7C94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038344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5001768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себя:  </a:t>
            </a:r>
            <a:pPr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выбрать колонку "age" из df?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417320" y="544068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Ответ: </a:t>
            </a:r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df["age"] (имя колонки в кавычках).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0080" y="62636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= «Excel внутри Python» — наша главная аналогия.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ЧАСТЫЕ ОШИБКИ</a:t>
            </a:r>
            <a:endParaRPr lang="en-US" sz="1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6858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чём спотыкаются чаще всего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241E42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82880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508760" y="1965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Отступы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08760" y="233172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IndentationError — забыл 4 пробела в блоке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241E42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0" y="182880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040880" y="1965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vs ==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040880" y="233172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присваивает, == сравнивает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306324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241E42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306324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508760" y="32004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 с 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508760" y="356616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элемент — [0], а не [1]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172200" y="306324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241E42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0" y="306324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7040880" y="32004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Смешение типов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040880" y="356616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"5" + 5 — ошибка: текст ≠ число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429768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241E42"/>
          </a:solidFill>
          <a:ln/>
        </p:spPr>
      </p:sp>
      <p:sp>
        <p:nvSpPr>
          <p:cNvPr id="22" name="Text 19"/>
          <p:cNvSpPr/>
          <p:nvPr/>
        </p:nvSpPr>
        <p:spPr>
          <a:xfrm>
            <a:off x="868680" y="429768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1508760" y="44348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Забыл :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508760" y="48006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if / for / def нужно двоеточие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172200" y="429768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241E42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0" y="429768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7040880" y="44348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Кавычки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040880" y="48006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переменной — без кавычек, текст — в кавычках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40080" y="62636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Читай сообщение об ошибке снизу вверх — там почти всегда написано, что не так.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ЗНАНИЙ</a:t>
            </a:r>
            <a:endParaRPr lang="en-US" sz="1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6858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Квиз: 5 вопросов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241E42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783080"/>
            <a:ext cx="6583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Какой тип у True?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680960" y="1911096"/>
            <a:ext cx="3566160" cy="457200"/>
          </a:xfrm>
          <a:prstGeom prst="roundRect">
            <a:avLst>
              <a:gd name="adj" fmla="val 20000"/>
            </a:avLst>
          </a:prstGeom>
          <a:solidFill>
            <a:srgbClr val="14342B"/>
          </a:solidFill>
          <a:ln/>
        </p:spPr>
      </p:sp>
      <p:sp>
        <p:nvSpPr>
          <p:cNvPr id="8" name="Text 5"/>
          <p:cNvSpPr/>
          <p:nvPr/>
        </p:nvSpPr>
        <p:spPr>
          <a:xfrm>
            <a:off x="7818120" y="191109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2624328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241E42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624328"/>
            <a:ext cx="6583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Что вернёт [1, 2, 3][-1]?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680960" y="2752344"/>
            <a:ext cx="3566160" cy="457200"/>
          </a:xfrm>
          <a:prstGeom prst="roundRect">
            <a:avLst>
              <a:gd name="adj" fmla="val 20000"/>
            </a:avLst>
          </a:prstGeom>
          <a:solidFill>
            <a:srgbClr val="14342B"/>
          </a:solidFill>
          <a:ln/>
        </p:spPr>
      </p:sp>
      <p:sp>
        <p:nvSpPr>
          <p:cNvPr id="12" name="Text 9"/>
          <p:cNvSpPr/>
          <p:nvPr/>
        </p:nvSpPr>
        <p:spPr>
          <a:xfrm>
            <a:off x="7818120" y="275234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0080" y="3465576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241E42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465576"/>
            <a:ext cx="6583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Сколько раз сработает for i in range(3)?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7680960" y="3593592"/>
            <a:ext cx="3566160" cy="457200"/>
          </a:xfrm>
          <a:prstGeom prst="roundRect">
            <a:avLst>
              <a:gd name="adj" fmla="val 20000"/>
            </a:avLst>
          </a:prstGeom>
          <a:solidFill>
            <a:srgbClr val="14342B"/>
          </a:solidFill>
          <a:ln/>
        </p:spPr>
      </p:sp>
      <p:sp>
        <p:nvSpPr>
          <p:cNvPr id="16" name="Text 13"/>
          <p:cNvSpPr/>
          <p:nvPr/>
        </p:nvSpPr>
        <p:spPr>
          <a:xfrm>
            <a:off x="7818120" y="359359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(i = 0,1,2)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40080" y="4306824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241E42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4306824"/>
            <a:ext cx="6583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Что сравнивает значения: = или ==?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7680960" y="4434840"/>
            <a:ext cx="3566160" cy="457200"/>
          </a:xfrm>
          <a:prstGeom prst="roundRect">
            <a:avLst>
              <a:gd name="adj" fmla="val 20000"/>
            </a:avLst>
          </a:prstGeom>
          <a:solidFill>
            <a:srgbClr val="14342B"/>
          </a:solidFill>
          <a:ln/>
        </p:spPr>
      </p:sp>
      <p:sp>
        <p:nvSpPr>
          <p:cNvPr id="20" name="Text 17"/>
          <p:cNvSpPr/>
          <p:nvPr/>
        </p:nvSpPr>
        <p:spPr>
          <a:xfrm>
            <a:off x="7818120" y="4434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(двойное)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40080" y="5148072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241E42"/>
          </a:solidFill>
          <a:ln/>
        </p:spPr>
      </p:sp>
      <p:sp>
        <p:nvSpPr>
          <p:cNvPr id="22" name="Text 19"/>
          <p:cNvSpPr/>
          <p:nvPr/>
        </p:nvSpPr>
        <p:spPr>
          <a:xfrm>
            <a:off x="914400" y="5148072"/>
            <a:ext cx="6583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Что показывает df.head()?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7680960" y="5276088"/>
            <a:ext cx="3566160" cy="457200"/>
          </a:xfrm>
          <a:prstGeom prst="roundRect">
            <a:avLst>
              <a:gd name="adj" fmla="val 20000"/>
            </a:avLst>
          </a:prstGeom>
          <a:solidFill>
            <a:srgbClr val="14342B"/>
          </a:solidFill>
          <a:ln/>
        </p:spPr>
      </p:sp>
      <p:sp>
        <p:nvSpPr>
          <p:cNvPr id="24" name="Text 21"/>
          <p:cNvSpPr/>
          <p:nvPr/>
        </p:nvSpPr>
        <p:spPr>
          <a:xfrm>
            <a:off x="7818120" y="527608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5 строк таблицы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40080" y="62636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Совет: сначала закрой правый столбец и спроси класс — потом открой ответы.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К ФИНАЛУ</a:t>
            </a:r>
            <a:endParaRPr lang="en-US" sz="1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6060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Этого Python хватит для всего проекта.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58368" y="3657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Переменные, списки, словари, условия, циклы, функции, pandas — весь код проекта строится из них.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502920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5B4FC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230368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502920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помнишь синтаксис — это нормально. Держи шпаргалку рядом и пиши код.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2026-08-22T05:05:31Z</dcterms:created>
  <dcterms:modified xsi:type="dcterms:W3CDTF">2026-08-22T05:05:31Z</dcterms:modified>
</cp:coreProperties>
</file>