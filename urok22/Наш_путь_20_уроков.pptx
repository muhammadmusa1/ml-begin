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822960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5B4FC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9144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35440" y="8229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УРОКОВ ПОЗАДИ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ПУТЬ В МАШИННОМ ОБУЧЕНИИ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256032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«магии» — к своим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настоящим моделям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640080" y="4480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Посмотри, как далеко ты зашёл за 3 месяца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828800" y="5486400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27D3EE"/>
          </a:solidFill>
          <a:ln/>
        </p:spPr>
      </p:sp>
      <p:sp>
        <p:nvSpPr>
          <p:cNvPr id="9" name="Shape 6"/>
          <p:cNvSpPr/>
          <p:nvPr/>
        </p:nvSpPr>
        <p:spPr>
          <a:xfrm>
            <a:off x="3657600" y="5486400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8B7DF5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0" y="5486400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2DD4BF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0" y="5486400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F7C94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ВСПОМНИМ, С ЧЕГО НАЧАЛОСЬ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6974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1: компьютер «читал» эмоции — и это казалось магией.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58368" y="4114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ты сам обучаешь такие модели, оцениваешь их и делаешь из них приложения.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Магии не было — была математика, данные и ты.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1 · ДАННЫЕ И МЫШЛЕНИЕ · УРОКИ 1–4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Научились «видеть» данные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88336" cy="2651760"/>
          </a:xfrm>
          <a:prstGeom prst="roundRect">
            <a:avLst>
              <a:gd name="adj" fmla="val 3448"/>
            </a:avLst>
          </a:prstGeom>
          <a:solidFill>
            <a:srgbClr val="241E42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2267712"/>
            <a:ext cx="768096" cy="76809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40487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10896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" y="3383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«Магия» ML — живое демо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584448" y="2011680"/>
            <a:ext cx="2688336" cy="2651760"/>
          </a:xfrm>
          <a:prstGeom prst="roundRect">
            <a:avLst>
              <a:gd name="adj" fmla="val 3448"/>
            </a:avLst>
          </a:prstGeom>
          <a:solidFill>
            <a:srgbClr val="241E42"/>
          </a:solidFill>
          <a:ln/>
        </p:spPr>
      </p:sp>
      <p:sp>
        <p:nvSpPr>
          <p:cNvPr id="10" name="Shape 7"/>
          <p:cNvSpPr/>
          <p:nvPr/>
        </p:nvSpPr>
        <p:spPr>
          <a:xfrm>
            <a:off x="4544568" y="2267712"/>
            <a:ext cx="768096" cy="76809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40487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75888" y="310896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94176" y="3383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данные и признаки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528816" y="2011680"/>
            <a:ext cx="2688336" cy="2651760"/>
          </a:xfrm>
          <a:prstGeom prst="roundRect">
            <a:avLst>
              <a:gd name="adj" fmla="val 3448"/>
            </a:avLst>
          </a:prstGeom>
          <a:solidFill>
            <a:srgbClr val="241E42"/>
          </a:solidFill>
          <a:ln/>
        </p:spPr>
      </p:sp>
      <p:sp>
        <p:nvSpPr>
          <p:cNvPr id="15" name="Shape 11"/>
          <p:cNvSpPr/>
          <p:nvPr/>
        </p:nvSpPr>
        <p:spPr>
          <a:xfrm>
            <a:off x="7488936" y="2267712"/>
            <a:ext cx="768096" cy="76809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096" y="240487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0256" y="310896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3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638544" y="3383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Графики: scatter, heatmap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473184" y="2011680"/>
            <a:ext cx="2688336" cy="2651760"/>
          </a:xfrm>
          <a:prstGeom prst="roundRect">
            <a:avLst>
              <a:gd name="adj" fmla="val 3448"/>
            </a:avLst>
          </a:prstGeom>
          <a:solidFill>
            <a:srgbClr val="241E42"/>
          </a:solidFill>
          <a:ln/>
        </p:spPr>
      </p:sp>
      <p:sp>
        <p:nvSpPr>
          <p:cNvPr id="20" name="Shape 15"/>
          <p:cNvSpPr/>
          <p:nvPr/>
        </p:nvSpPr>
        <p:spPr>
          <a:xfrm>
            <a:off x="10433304" y="2267712"/>
            <a:ext cx="768096" cy="76809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0464" y="2404872"/>
            <a:ext cx="493776" cy="4937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64624" y="310896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4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582912" y="3383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рассказ о данных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идея: модель хороша настолько, насколько хороши данные.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2 · КЛАССИЧЕСКИЕ АЛГОРИТМЫ · УРОКИ 5–12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Обучили первые модели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88336" cy="2194560"/>
          </a:xfrm>
          <a:prstGeom prst="roundRect">
            <a:avLst>
              <a:gd name="adj" fmla="val 4167"/>
            </a:avLst>
          </a:prstGeom>
          <a:solidFill>
            <a:srgbClr val="241E42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2084832"/>
            <a:ext cx="768096" cy="76809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22199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2608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5–6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" y="3200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+ train/test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584448" y="1828800"/>
            <a:ext cx="2688336" cy="2194560"/>
          </a:xfrm>
          <a:prstGeom prst="roundRect">
            <a:avLst>
              <a:gd name="adj" fmla="val 4167"/>
            </a:avLst>
          </a:prstGeom>
          <a:solidFill>
            <a:srgbClr val="241E42"/>
          </a:solidFill>
          <a:ln/>
        </p:spPr>
      </p:sp>
      <p:sp>
        <p:nvSpPr>
          <p:cNvPr id="10" name="Shape 7"/>
          <p:cNvSpPr/>
          <p:nvPr/>
        </p:nvSpPr>
        <p:spPr>
          <a:xfrm>
            <a:off x="4544568" y="2084832"/>
            <a:ext cx="768096" cy="76809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22199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75888" y="292608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7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94176" y="3200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 решений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528816" y="1828800"/>
            <a:ext cx="2688336" cy="2194560"/>
          </a:xfrm>
          <a:prstGeom prst="roundRect">
            <a:avLst>
              <a:gd name="adj" fmla="val 4167"/>
            </a:avLst>
          </a:prstGeom>
          <a:solidFill>
            <a:srgbClr val="241E42"/>
          </a:solidFill>
          <a:ln/>
        </p:spPr>
      </p:sp>
      <p:sp>
        <p:nvSpPr>
          <p:cNvPr id="15" name="Shape 11"/>
          <p:cNvSpPr/>
          <p:nvPr/>
        </p:nvSpPr>
        <p:spPr>
          <a:xfrm>
            <a:off x="7488936" y="2084832"/>
            <a:ext cx="768096" cy="76809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096" y="222199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0256" y="292608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8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638544" y="3200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Регрессия: числа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473184" y="1828800"/>
            <a:ext cx="2688336" cy="2194560"/>
          </a:xfrm>
          <a:prstGeom prst="roundRect">
            <a:avLst>
              <a:gd name="adj" fmla="val 4167"/>
            </a:avLst>
          </a:prstGeom>
          <a:solidFill>
            <a:srgbClr val="241E42"/>
          </a:solidFill>
          <a:ln/>
        </p:spPr>
      </p:sp>
      <p:sp>
        <p:nvSpPr>
          <p:cNvPr id="20" name="Shape 15"/>
          <p:cNvSpPr/>
          <p:nvPr/>
        </p:nvSpPr>
        <p:spPr>
          <a:xfrm>
            <a:off x="10433304" y="2084832"/>
            <a:ext cx="768096" cy="76809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0464" y="2221992"/>
            <a:ext cx="493776" cy="4937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64624" y="292608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9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582912" y="3200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Случайный лес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40080" y="4279392"/>
            <a:ext cx="2688336" cy="2194560"/>
          </a:xfrm>
          <a:prstGeom prst="roundRect">
            <a:avLst>
              <a:gd name="adj" fmla="val 4167"/>
            </a:avLst>
          </a:prstGeom>
          <a:solidFill>
            <a:srgbClr val="241E42"/>
          </a:solidFill>
          <a:ln/>
        </p:spPr>
      </p:sp>
      <p:sp>
        <p:nvSpPr>
          <p:cNvPr id="25" name="Shape 19"/>
          <p:cNvSpPr/>
          <p:nvPr/>
        </p:nvSpPr>
        <p:spPr>
          <a:xfrm>
            <a:off x="1600200" y="4535424"/>
            <a:ext cx="768096" cy="76809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0" y="4672584"/>
            <a:ext cx="493776" cy="4937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" y="5376672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10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49808" y="565099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Pipeline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3584448" y="4279392"/>
            <a:ext cx="2688336" cy="2194560"/>
          </a:xfrm>
          <a:prstGeom prst="roundRect">
            <a:avLst>
              <a:gd name="adj" fmla="val 4167"/>
            </a:avLst>
          </a:prstGeom>
          <a:solidFill>
            <a:srgbClr val="241E42"/>
          </a:solidFill>
          <a:ln/>
        </p:spPr>
      </p:sp>
      <p:sp>
        <p:nvSpPr>
          <p:cNvPr id="30" name="Shape 23"/>
          <p:cNvSpPr/>
          <p:nvPr/>
        </p:nvSpPr>
        <p:spPr>
          <a:xfrm>
            <a:off x="4544568" y="4535424"/>
            <a:ext cx="768096" cy="76809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4672584"/>
            <a:ext cx="493776" cy="4937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75888" y="5376672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11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3694176" y="565099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и ошибки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6528816" y="4279392"/>
            <a:ext cx="2688336" cy="2194560"/>
          </a:xfrm>
          <a:prstGeom prst="roundRect">
            <a:avLst>
              <a:gd name="adj" fmla="val 4167"/>
            </a:avLst>
          </a:prstGeom>
          <a:solidFill>
            <a:srgbClr val="241E42"/>
          </a:solidFill>
          <a:ln/>
        </p:spPr>
      </p:sp>
      <p:sp>
        <p:nvSpPr>
          <p:cNvPr id="35" name="Shape 27"/>
          <p:cNvSpPr/>
          <p:nvPr/>
        </p:nvSpPr>
        <p:spPr>
          <a:xfrm>
            <a:off x="7488936" y="4535424"/>
            <a:ext cx="768096" cy="76809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6096" y="4672584"/>
            <a:ext cx="493776" cy="49377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620256" y="5376672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12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6638544" y="565099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Мини-проект №1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9473184" y="4279392"/>
            <a:ext cx="2688336" cy="2194560"/>
          </a:xfrm>
          <a:prstGeom prst="roundRect">
            <a:avLst>
              <a:gd name="adj" fmla="val 4167"/>
            </a:avLst>
          </a:prstGeom>
          <a:solidFill>
            <a:srgbClr val="241E42"/>
          </a:solidFill>
          <a:ln/>
        </p:spPr>
      </p:sp>
      <p:sp>
        <p:nvSpPr>
          <p:cNvPr id="40" name="Shape 31"/>
          <p:cNvSpPr/>
          <p:nvPr/>
        </p:nvSpPr>
        <p:spPr>
          <a:xfrm>
            <a:off x="10433304" y="4535424"/>
            <a:ext cx="768096" cy="76809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0464" y="4672584"/>
            <a:ext cx="493776" cy="49377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564624" y="5376672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✓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9582912" y="565099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→ модель</a:t>
            </a:r>
            <a:endParaRPr lang="en-US" sz="1300" dirty="0"/>
          </a:p>
        </p:txBody>
      </p:sp>
      <p:sp>
        <p:nvSpPr>
          <p:cNvPr id="44" name="Text 34"/>
          <p:cNvSpPr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идея: baseline, честная метрика и Pipeline — стандарт настоящего ML.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3 · НЕЙРОСЕТИ · УРОКИ 13–16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Заглянули в «мозг из математики»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88336" cy="2651760"/>
          </a:xfrm>
          <a:prstGeom prst="roundRect">
            <a:avLst>
              <a:gd name="adj" fmla="val 3448"/>
            </a:avLst>
          </a:prstGeom>
          <a:solidFill>
            <a:srgbClr val="241E42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2267712"/>
            <a:ext cx="768096" cy="76809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40487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10896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" y="3383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Нейрон, слои, активации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584448" y="2011680"/>
            <a:ext cx="2688336" cy="2651760"/>
          </a:xfrm>
          <a:prstGeom prst="roundRect">
            <a:avLst>
              <a:gd name="adj" fmla="val 3448"/>
            </a:avLst>
          </a:prstGeom>
          <a:solidFill>
            <a:srgbClr val="241E42"/>
          </a:solidFill>
          <a:ln/>
        </p:spPr>
      </p:sp>
      <p:sp>
        <p:nvSpPr>
          <p:cNvPr id="10" name="Shape 7"/>
          <p:cNvSpPr/>
          <p:nvPr/>
        </p:nvSpPr>
        <p:spPr>
          <a:xfrm>
            <a:off x="4544568" y="2267712"/>
            <a:ext cx="768096" cy="76809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40487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75888" y="310896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14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94176" y="3383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MNIST: сеть узнаёт цифры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528816" y="2011680"/>
            <a:ext cx="2688336" cy="2651760"/>
          </a:xfrm>
          <a:prstGeom prst="roundRect">
            <a:avLst>
              <a:gd name="adj" fmla="val 3448"/>
            </a:avLst>
          </a:prstGeom>
          <a:solidFill>
            <a:srgbClr val="241E42"/>
          </a:solidFill>
          <a:ln/>
        </p:spPr>
      </p:sp>
      <p:sp>
        <p:nvSpPr>
          <p:cNvPr id="15" name="Shape 11"/>
          <p:cNvSpPr/>
          <p:nvPr/>
        </p:nvSpPr>
        <p:spPr>
          <a:xfrm>
            <a:off x="7488936" y="2267712"/>
            <a:ext cx="768096" cy="76809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096" y="240487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0256" y="310896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15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638544" y="3383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CNN: как компьютер видит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473184" y="2011680"/>
            <a:ext cx="2688336" cy="2651760"/>
          </a:xfrm>
          <a:prstGeom prst="roundRect">
            <a:avLst>
              <a:gd name="adj" fmla="val 3448"/>
            </a:avLst>
          </a:prstGeom>
          <a:solidFill>
            <a:srgbClr val="241E42"/>
          </a:solidFill>
          <a:ln/>
        </p:spPr>
      </p:sp>
      <p:sp>
        <p:nvSpPr>
          <p:cNvPr id="20" name="Shape 15"/>
          <p:cNvSpPr/>
          <p:nvPr/>
        </p:nvSpPr>
        <p:spPr>
          <a:xfrm>
            <a:off x="10433304" y="2267712"/>
            <a:ext cx="768096" cy="76809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0464" y="2404872"/>
            <a:ext cx="493776" cy="4937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64624" y="310896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16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582912" y="3383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Классификатор своих фото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идея: нейросеть учится, постепенно исправляя свои ошибки.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3 · СОВРЕМЕННЫЙ ИИ · УРОКИ 17–20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Дошли до ChatGPT и деплоя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88336" cy="2651760"/>
          </a:xfrm>
          <a:prstGeom prst="roundRect">
            <a:avLst>
              <a:gd name="adj" fmla="val 3448"/>
            </a:avLst>
          </a:prstGeom>
          <a:solidFill>
            <a:srgbClr val="241E42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2267712"/>
            <a:ext cx="768096" cy="76809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40487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10896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17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" y="3383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Токены, внимание, LLM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584448" y="2011680"/>
            <a:ext cx="2688336" cy="2651760"/>
          </a:xfrm>
          <a:prstGeom prst="roundRect">
            <a:avLst>
              <a:gd name="adj" fmla="val 3448"/>
            </a:avLst>
          </a:prstGeom>
          <a:solidFill>
            <a:srgbClr val="241E42"/>
          </a:solidFill>
          <a:ln/>
        </p:spPr>
      </p:sp>
      <p:sp>
        <p:nvSpPr>
          <p:cNvPr id="10" name="Shape 7"/>
          <p:cNvSpPr/>
          <p:nvPr/>
        </p:nvSpPr>
        <p:spPr>
          <a:xfrm>
            <a:off x="4544568" y="2267712"/>
            <a:ext cx="768096" cy="76809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40487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75888" y="310896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18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94176" y="3383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бот через API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528816" y="2011680"/>
            <a:ext cx="2688336" cy="2651760"/>
          </a:xfrm>
          <a:prstGeom prst="roundRect">
            <a:avLst>
              <a:gd name="adj" fmla="val 3448"/>
            </a:avLst>
          </a:prstGeom>
          <a:solidFill>
            <a:srgbClr val="241E42"/>
          </a:solidFill>
          <a:ln/>
        </p:spPr>
      </p:sp>
      <p:sp>
        <p:nvSpPr>
          <p:cNvPr id="15" name="Shape 11"/>
          <p:cNvSpPr/>
          <p:nvPr/>
        </p:nvSpPr>
        <p:spPr>
          <a:xfrm>
            <a:off x="7488936" y="2267712"/>
            <a:ext cx="768096" cy="76809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096" y="240487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0256" y="310896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19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638544" y="3383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за 3 минуты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473184" y="2011680"/>
            <a:ext cx="2688336" cy="2651760"/>
          </a:xfrm>
          <a:prstGeom prst="roundRect">
            <a:avLst>
              <a:gd name="adj" fmla="val 3448"/>
            </a:avLst>
          </a:prstGeom>
          <a:solidFill>
            <a:srgbClr val="241E42"/>
          </a:solidFill>
          <a:ln/>
        </p:spPr>
      </p:sp>
      <p:sp>
        <p:nvSpPr>
          <p:cNvPr id="20" name="Shape 15"/>
          <p:cNvSpPr/>
          <p:nvPr/>
        </p:nvSpPr>
        <p:spPr>
          <a:xfrm>
            <a:off x="10433304" y="2267712"/>
            <a:ext cx="768096" cy="76809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0464" y="2404872"/>
            <a:ext cx="493776" cy="4937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64624" y="310896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20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582912" y="3383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Gradio: приложение в сети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идея: LLM — очень умный автодополнитель, и он умеет ошибаться (галлюцинации).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ТВОИ ЛЮБИМЫЕ АНАЛОГИИ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мы объясняли сложное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822960"/>
          </a:xfrm>
          <a:prstGeom prst="roundRect">
            <a:avLst>
              <a:gd name="adj" fmla="val 11111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788920" y="18288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Excel внутри Python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822960"/>
          </a:xfrm>
          <a:prstGeom prst="roundRect">
            <a:avLst>
              <a:gd name="adj" fmla="val 11111"/>
            </a:avLst>
          </a:prstGeom>
          <a:solidFill>
            <a:srgbClr val="241E4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8288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21040" y="18288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ленивый ученик — смотрит на соседей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5349240" cy="822960"/>
          </a:xfrm>
          <a:prstGeom prst="roundRect">
            <a:avLst>
              <a:gd name="adj" fmla="val 11111"/>
            </a:avLst>
          </a:prstGeom>
          <a:solidFill>
            <a:srgbClr val="241E4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7889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788920" y="27889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игра «20 вопросов»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2788920"/>
            <a:ext cx="5349240" cy="822960"/>
          </a:xfrm>
          <a:prstGeom prst="roundRect">
            <a:avLst>
              <a:gd name="adj" fmla="val 11111"/>
            </a:avLst>
          </a:prstGeom>
          <a:solidFill>
            <a:srgbClr val="241E4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7889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Случайный лес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1040" y="27889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голосование всего класса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5349240" cy="822960"/>
          </a:xfrm>
          <a:prstGeom prst="roundRect">
            <a:avLst>
              <a:gd name="adj" fmla="val 11111"/>
            </a:avLst>
          </a:prstGeom>
          <a:solidFill>
            <a:srgbClr val="241E4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749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788920" y="3749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«зазубрил» vs «понял»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72200" y="3749040"/>
            <a:ext cx="5349240" cy="822960"/>
          </a:xfrm>
          <a:prstGeom prst="roundRect">
            <a:avLst>
              <a:gd name="adj" fmla="val 11111"/>
            </a:avLst>
          </a:prstGeom>
          <a:solidFill>
            <a:srgbClr val="241E4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749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Нейросеть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21040" y="3749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ученик исправляет ошибки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4709160"/>
            <a:ext cx="5349240" cy="822960"/>
          </a:xfrm>
          <a:prstGeom prst="roundRect">
            <a:avLst>
              <a:gd name="adj" fmla="val 11111"/>
            </a:avLst>
          </a:prstGeom>
          <a:solidFill>
            <a:srgbClr val="241E42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7091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788920" y="47091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лупа ищет края и формы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72200" y="4709160"/>
            <a:ext cx="5349240" cy="822960"/>
          </a:xfrm>
          <a:prstGeom prst="roundRect">
            <a:avLst>
              <a:gd name="adj" fmla="val 11111"/>
            </a:avLst>
          </a:prstGeom>
          <a:solidFill>
            <a:srgbClr val="241E4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7091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321040" y="47091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очень умный автодополнитель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Хорошая аналогия — половина понимания.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ТВОИ ЛУЧШИЕ МОМЕНТЫ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Твои маленькие победы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241E4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39112"/>
            <a:ext cx="548640" cy="548640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762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20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00200" y="222199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угадал твою эмоцию с веб-камеры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241E42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039112"/>
            <a:ext cx="548640" cy="548640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7627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20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4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132320" y="222199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нашёл самый необычный инсайт в данных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30175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241E42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3273552"/>
            <a:ext cx="548640" cy="548640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1071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154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6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600200" y="345643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твой KNN угадал по соседям и прошёл проверку на test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72200" y="30175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241E42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3273552"/>
            <a:ext cx="548640" cy="548640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41071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154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14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132320" y="345643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нейросеть узнала твою рукописную цифру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40080" y="425196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241E42"/>
          </a:solidFill>
          <a:ln/>
        </p:spPr>
      </p:sp>
      <p:sp>
        <p:nvSpPr>
          <p:cNvPr id="25" name="Shape 19"/>
          <p:cNvSpPr/>
          <p:nvPr/>
        </p:nvSpPr>
        <p:spPr>
          <a:xfrm>
            <a:off x="868680" y="4507992"/>
            <a:ext cx="548640" cy="548640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64515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4389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16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600200" y="469087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твой ИИ научился узнавать твои фото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6172200" y="425196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241E42"/>
          </a:solidFill>
          <a:ln/>
        </p:spPr>
      </p:sp>
      <p:sp>
        <p:nvSpPr>
          <p:cNvPr id="30" name="Shape 23"/>
          <p:cNvSpPr/>
          <p:nvPr/>
        </p:nvSpPr>
        <p:spPr>
          <a:xfrm>
            <a:off x="6400800" y="4507992"/>
            <a:ext cx="548640" cy="548640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464515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4389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18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132320" y="469087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твой бот с характером отвечал на вопросы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просто уроки — это твои маленькие победы.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ты теперь умеешь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241E4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0253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объяснить, что такое ML, своими словами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2560320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241E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8833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560320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построить и обучить модель в Pipeline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40080" y="3246120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241E4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74136"/>
            <a:ext cx="310896" cy="310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246120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выбрать метрику и честно оценить качество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640080" y="3931920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241E4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59936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3931920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обучить нейросеть и понять, как она «видит»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640080" y="4617720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241E4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745736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71600" y="4617720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использовать LLM и знать про галлюцинации</a:t>
            </a:r>
            <a:endParaRPr lang="en-US" sz="1700" dirty="0"/>
          </a:p>
        </p:txBody>
      </p:sp>
      <p:sp>
        <p:nvSpPr>
          <p:cNvPr id="19" name="Shape 12"/>
          <p:cNvSpPr/>
          <p:nvPr/>
        </p:nvSpPr>
        <p:spPr>
          <a:xfrm>
            <a:off x="640080" y="5303520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241E42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431536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371600" y="5303520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обернуть модель в веб-приложение и выложить в интернет</a:t>
            </a:r>
            <a:endParaRPr lang="en-US" sz="1700" dirty="0"/>
          </a:p>
        </p:txBody>
      </p:sp>
      <p:sp>
        <p:nvSpPr>
          <p:cNvPr id="22" name="Text 14"/>
          <p:cNvSpPr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«прошёл курс» — это «умею делать».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ПРОШЛИ НЕМАЛО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Твой курс в цифрах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2651760" cy="2377440"/>
          </a:xfrm>
          <a:prstGeom prst="roundRect">
            <a:avLst>
              <a:gd name="adj" fmla="val 5385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46888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уроков позади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0" y="2194560"/>
            <a:ext cx="2651760" cy="2377440"/>
          </a:xfrm>
          <a:prstGeom prst="roundRect">
            <a:avLst>
              <a:gd name="adj" fmla="val 5385"/>
            </a:avLst>
          </a:prstGeom>
          <a:solidFill>
            <a:srgbClr val="241E4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246888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749040" y="37033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алгоритмов ML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29400" y="2194560"/>
            <a:ext cx="2651760" cy="2377440"/>
          </a:xfrm>
          <a:prstGeom prst="roundRect">
            <a:avLst>
              <a:gd name="adj" fmla="val 5385"/>
            </a:avLst>
          </a:prstGeom>
          <a:solidFill>
            <a:srgbClr val="241E42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46888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720840" y="37033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аналогий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1200" y="2194560"/>
            <a:ext cx="2651760" cy="2377440"/>
          </a:xfrm>
          <a:prstGeom prst="roundRect">
            <a:avLst>
              <a:gd name="adj" fmla="val 5385"/>
            </a:avLst>
          </a:prstGeom>
          <a:solidFill>
            <a:srgbClr val="241E42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246888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9692640" y="37033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в сети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 десятки обученных моделей и датасеты — от пингвинов до рукописных цифр.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ГОЛОСА РЕБЯТ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Каким будет твой отзыв?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566160" cy="3291840"/>
          </a:xfrm>
          <a:prstGeom prst="roundRect">
            <a:avLst>
              <a:gd name="adj" fmla="val 3889"/>
            </a:avLst>
          </a:prstGeom>
          <a:solidFill>
            <a:srgbClr val="241E4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40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83464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«Пришёл, чтобы понять, как работает ChatGPT. Теперь я не просто понимаю — я могу создать своего бота.»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60120" y="4754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Артём, 15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34840" y="1965960"/>
            <a:ext cx="3566160" cy="3291840"/>
          </a:xfrm>
          <a:prstGeom prst="roundRect">
            <a:avLst>
              <a:gd name="adj" fmla="val 3889"/>
            </a:avLst>
          </a:prstGeom>
          <a:solidFill>
            <a:srgbClr val="241E4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2402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09160" y="283464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«Самое крутое — когда моя модель узнала мои фото. Отправил ссылку родителям — не поверили, что я сам сделал.»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709160" y="4754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Алина, 14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183880" y="1965960"/>
            <a:ext cx="3566160" cy="3291840"/>
          </a:xfrm>
          <a:prstGeom prst="roundRect">
            <a:avLst>
              <a:gd name="adj" fmla="val 3889"/>
            </a:avLst>
          </a:prstGeom>
          <a:solidFill>
            <a:srgbClr val="241E4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2402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58200" y="283464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«Боялся, что будет сложно. Но аналогии и игры помогли. Теперь хочу попробовать Kaggle.»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458200" y="4754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Макс, 16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примеры — скоро один такой отзыв будет твоим.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ТЕПЕРЬ — ГЛАВНОЕ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606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Осталось собрать всё в один проект.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58368" y="3657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Уроки 21–24: своя идея → модель → приложение → защита на Demo Day.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484632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5B4FC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07492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484632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Твой проект увидят родители — и ты покажешь, что умеешь создавать настоящие продукты.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— ЭТО СТАРТ, А НЕ ФИНИШ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Твой следующий шаг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621792"/>
          </a:xfrm>
          <a:prstGeom prst="roundRect">
            <a:avLst>
              <a:gd name="adj" fmla="val 14706"/>
            </a:avLst>
          </a:prstGeom>
          <a:solidFill>
            <a:srgbClr val="241E42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01952"/>
            <a:ext cx="384048" cy="384048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02536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343400" y="1783080"/>
            <a:ext cx="6949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соревнования по данным — проверь силы на реальных задачах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532888"/>
            <a:ext cx="10881360" cy="621792"/>
          </a:xfrm>
          <a:prstGeom prst="roundRect">
            <a:avLst>
              <a:gd name="adj" fmla="val 14706"/>
            </a:avLst>
          </a:prstGeom>
          <a:solidFill>
            <a:srgbClr val="241E42"/>
          </a:solidFill>
          <a:ln/>
        </p:spPr>
      </p:sp>
      <p:sp>
        <p:nvSpPr>
          <p:cNvPr id="10" name="Shape 7"/>
          <p:cNvSpPr/>
          <p:nvPr/>
        </p:nvSpPr>
        <p:spPr>
          <a:xfrm>
            <a:off x="841248" y="2651760"/>
            <a:ext cx="384048" cy="384048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752344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32888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Хакатоны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343400" y="2532888"/>
            <a:ext cx="6949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командные проекты за 1–2 дня — попробуй роль ML-инженера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40080" y="3282696"/>
            <a:ext cx="10881360" cy="621792"/>
          </a:xfrm>
          <a:prstGeom prst="roundRect">
            <a:avLst>
              <a:gd name="adj" fmla="val 14706"/>
            </a:avLst>
          </a:prstGeom>
          <a:solidFill>
            <a:srgbClr val="241E42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" y="3401568"/>
            <a:ext cx="384048" cy="384048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502152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282696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Углублённый курс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343400" y="3282696"/>
            <a:ext cx="6949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математики и архитектур (трансформеры, GAN)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40080" y="4032504"/>
            <a:ext cx="10881360" cy="621792"/>
          </a:xfrm>
          <a:prstGeom prst="roundRect">
            <a:avLst>
              <a:gd name="adj" fmla="val 14706"/>
            </a:avLst>
          </a:prstGeom>
          <a:solidFill>
            <a:srgbClr val="241E42"/>
          </a:solidFill>
          <a:ln/>
        </p:spPr>
      </p:sp>
      <p:sp>
        <p:nvSpPr>
          <p:cNvPr id="20" name="Shape 15"/>
          <p:cNvSpPr/>
          <p:nvPr/>
        </p:nvSpPr>
        <p:spPr>
          <a:xfrm>
            <a:off x="841248" y="4151376"/>
            <a:ext cx="384048" cy="384048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251960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032504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проект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4343400" y="4032504"/>
            <a:ext cx="6949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развивай проект дальше — новый функционал, лучше модель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640080" y="4782312"/>
            <a:ext cx="10881360" cy="621792"/>
          </a:xfrm>
          <a:prstGeom prst="roundRect">
            <a:avLst>
              <a:gd name="adj" fmla="val 14706"/>
            </a:avLst>
          </a:prstGeom>
          <a:solidFill>
            <a:srgbClr val="241E42"/>
          </a:solidFill>
          <a:ln/>
        </p:spPr>
      </p:sp>
      <p:sp>
        <p:nvSpPr>
          <p:cNvPr id="25" name="Shape 19"/>
          <p:cNvSpPr/>
          <p:nvPr/>
        </p:nvSpPr>
        <p:spPr>
          <a:xfrm>
            <a:off x="841248" y="4901184"/>
            <a:ext cx="384048" cy="384048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5001768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782312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Олимпиады по ИИ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4343400" y="4782312"/>
            <a:ext cx="6949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 и заяви о себе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6000"/>
            </a:avLst>
          </a:prstGeom>
          <a:solidFill>
            <a:srgbClr val="5B4FC4"/>
          </a:solidFill>
          <a:ln/>
        </p:spPr>
      </p:sp>
      <p:sp>
        <p:nvSpPr>
          <p:cNvPr id="30" name="Text 23"/>
          <p:cNvSpPr/>
          <p:nvPr/>
        </p:nvSpPr>
        <p:spPr>
          <a:xfrm>
            <a:off x="640080" y="56235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уже умеешь больше многих сверстников. Теперь — только вперёд! 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2026-08-21T16:26:02Z</dcterms:created>
  <dcterms:modified xsi:type="dcterms:W3CDTF">2026-08-21T16:26:02Z</dcterms:modified>
</cp:coreProperties>
</file>