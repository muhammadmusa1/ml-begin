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146304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27D3EE"/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2029968"/>
            <a:ext cx="1828800" cy="411480"/>
          </a:xfrm>
          <a:prstGeom prst="roundRect">
            <a:avLst>
              <a:gd name="adj" fmla="val 13333"/>
            </a:avLst>
          </a:prstGeom>
          <a:solidFill>
            <a:srgbClr val="8B7DF5"/>
          </a:solidFill>
          <a:ln/>
        </p:spPr>
      </p:sp>
      <p:sp>
        <p:nvSpPr>
          <p:cNvPr id="4" name="Shape 2"/>
          <p:cNvSpPr/>
          <p:nvPr/>
        </p:nvSpPr>
        <p:spPr>
          <a:xfrm>
            <a:off x="9235440" y="2596896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5B4FC4"/>
          </a:solidFill>
          <a:ln/>
        </p:spPr>
      </p:sp>
      <p:sp>
        <p:nvSpPr>
          <p:cNvPr id="5" name="Shape 3"/>
          <p:cNvSpPr/>
          <p:nvPr/>
        </p:nvSpPr>
        <p:spPr>
          <a:xfrm>
            <a:off x="9235440" y="3163824"/>
            <a:ext cx="1097280" cy="411480"/>
          </a:xfrm>
          <a:prstGeom prst="roundRect">
            <a:avLst>
              <a:gd name="adj" fmla="val 13333"/>
            </a:avLst>
          </a:prstGeom>
          <a:solidFill>
            <a:srgbClr val="5B4FC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ФАЗА 5 · НЕДЕЛЯ 10 · AUTOML И AI-ИНСТРУМЕНТЫ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AutoML:</a:t>
            </a:r>
            <a:endParaRPr lang="en-US" sz="4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ускоряем работу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94360" y="3886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Машина сама перебирает модели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 · 90 минут · AutoGluon + Hugging Face Hub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 · 0–10 МИН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мы делали руками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5212080" cy="3383280"/>
          </a:xfrm>
          <a:prstGeom prst="roundRect">
            <a:avLst>
              <a:gd name="adj" fmla="val 3243"/>
            </a:avLst>
          </a:prstGeom>
          <a:solidFill>
            <a:srgbClr val="241E4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 (уроки 5–12)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9260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выбирали KNN, дерево, лес; подбирали параметры; сравнивали метрики — несколько уроков.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46520" y="2103120"/>
            <a:ext cx="5150815" cy="3383280"/>
          </a:xfrm>
          <a:prstGeom prst="roundRect">
            <a:avLst>
              <a:gd name="adj" fmla="val 3243"/>
            </a:avLst>
          </a:prstGeom>
          <a:solidFill>
            <a:srgbClr val="2C2552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12280" y="29260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и машина сама перебирает десятки моделей и выбирает лучшую.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ТЕОРИЯ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делает AutoML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5B4FC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651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Пробует модели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33375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KNN, лес, бустинг…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43400" y="2377440"/>
            <a:ext cx="411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8B7DF5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2651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Подбирает настройки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92040" y="33375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0" y="2377440"/>
            <a:ext cx="411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366760" y="2377440"/>
            <a:ext cx="3200400" cy="1645920"/>
          </a:xfrm>
          <a:prstGeom prst="roundRect">
            <a:avLst>
              <a:gd name="adj" fmla="val 6667"/>
            </a:avLst>
          </a:prstGeom>
          <a:solidFill>
            <a:srgbClr val="27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8503920" y="2651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 ансамбли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33375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выбирает лучшую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4480560"/>
            <a:ext cx="1100297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сильный бейзлайн за минуты. Но метрику и утечку данных всё равно проверяем мы.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Лидерборд: AutoML vs ручная модель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11002975" cy="822960"/>
          </a:xfrm>
          <a:prstGeom prst="roundRect">
            <a:avLst>
              <a:gd name="adj" fmla="val 13333"/>
            </a:avLst>
          </a:prstGeom>
          <a:solidFill>
            <a:srgbClr val="2C255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86000"/>
            <a:ext cx="457200" cy="457200"/>
          </a:xfrm>
          <a:prstGeom prst="ellipse">
            <a:avLst/>
          </a:prstGeom>
          <a:solidFill>
            <a:srgbClr val="27D3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2402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 (AutoML)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52360" y="2359152"/>
            <a:ext cx="3028493" cy="310896"/>
          </a:xfrm>
          <a:prstGeom prst="roundRect">
            <a:avLst>
              <a:gd name="adj" fmla="val 14706"/>
            </a:avLst>
          </a:prstGeom>
          <a:solidFill>
            <a:srgbClr val="27D3EE"/>
          </a:solidFill>
          <a:ln/>
        </p:spPr>
      </p:sp>
      <p:sp>
        <p:nvSpPr>
          <p:cNvPr id="9" name="Text 7"/>
          <p:cNvSpPr/>
          <p:nvPr/>
        </p:nvSpPr>
        <p:spPr>
          <a:xfrm>
            <a:off x="10408615" y="22402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3017520"/>
            <a:ext cx="11002975" cy="822960"/>
          </a:xfrm>
          <a:prstGeom prst="roundRect">
            <a:avLst>
              <a:gd name="adj" fmla="val 13333"/>
            </a:avLst>
          </a:prstGeom>
          <a:solidFill>
            <a:srgbClr val="241E42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200400"/>
            <a:ext cx="457200" cy="457200"/>
          </a:xfrm>
          <a:prstGeom prst="ellipse">
            <a:avLst/>
          </a:prstGeom>
          <a:solidFill>
            <a:srgbClr val="8B7DF5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31546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 (ручная)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452360" y="3273552"/>
            <a:ext cx="2958998" cy="310896"/>
          </a:xfrm>
          <a:prstGeom prst="roundRect">
            <a:avLst>
              <a:gd name="adj" fmla="val 14706"/>
            </a:avLst>
          </a:prstGeom>
          <a:solidFill>
            <a:srgbClr val="8B7DF5"/>
          </a:solidFill>
          <a:ln/>
        </p:spPr>
      </p:sp>
      <p:sp>
        <p:nvSpPr>
          <p:cNvPr id="15" name="Text 13"/>
          <p:cNvSpPr/>
          <p:nvPr/>
        </p:nvSpPr>
        <p:spPr>
          <a:xfrm>
            <a:off x="10408615" y="31546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8B7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99.1%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4360" y="3931920"/>
            <a:ext cx="11002975" cy="822960"/>
          </a:xfrm>
          <a:prstGeom prst="roundRect">
            <a:avLst>
              <a:gd name="adj" fmla="val 13333"/>
            </a:avLst>
          </a:prstGeom>
          <a:solidFill>
            <a:srgbClr val="241E42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4114800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0690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Trees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452360" y="4187952"/>
            <a:ext cx="2948026" cy="310896"/>
          </a:xfrm>
          <a:prstGeom prst="roundRect">
            <a:avLst>
              <a:gd name="adj" fmla="val 14706"/>
            </a:avLst>
          </a:prstGeom>
          <a:solidFill>
            <a:srgbClr val="5B4FC4"/>
          </a:solidFill>
          <a:ln/>
        </p:spPr>
      </p:sp>
      <p:sp>
        <p:nvSpPr>
          <p:cNvPr id="21" name="Text 19"/>
          <p:cNvSpPr/>
          <p:nvPr/>
        </p:nvSpPr>
        <p:spPr>
          <a:xfrm>
            <a:off x="10408615" y="40690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B4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98.5%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" y="4846320"/>
            <a:ext cx="11002975" cy="822960"/>
          </a:xfrm>
          <a:prstGeom prst="roundRect">
            <a:avLst>
              <a:gd name="adj" fmla="val 13333"/>
            </a:avLst>
          </a:prstGeom>
          <a:solidFill>
            <a:srgbClr val="241E42"/>
          </a:solidFill>
          <a:ln/>
        </p:spPr>
      </p:sp>
      <p:sp>
        <p:nvSpPr>
          <p:cNvPr id="23" name="Shape 21"/>
          <p:cNvSpPr/>
          <p:nvPr/>
        </p:nvSpPr>
        <p:spPr>
          <a:xfrm>
            <a:off x="914400" y="5029200"/>
            <a:ext cx="457200" cy="457200"/>
          </a:xfrm>
          <a:prstGeom prst="ellipse">
            <a:avLst/>
          </a:prstGeom>
          <a:solidFill>
            <a:srgbClr val="5B4FC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49834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Дерево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452360" y="5102352"/>
            <a:ext cx="2889504" cy="310896"/>
          </a:xfrm>
          <a:prstGeom prst="roundRect">
            <a:avLst>
              <a:gd name="adj" fmla="val 14706"/>
            </a:avLst>
          </a:prstGeom>
          <a:solidFill>
            <a:srgbClr val="5B4FC4"/>
          </a:solidFill>
          <a:ln/>
        </p:spPr>
      </p:sp>
      <p:sp>
        <p:nvSpPr>
          <p:cNvPr id="27" name="Text 25"/>
          <p:cNvSpPr/>
          <p:nvPr/>
        </p:nvSpPr>
        <p:spPr>
          <a:xfrm>
            <a:off x="10408615" y="498348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B4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чистых пингвинах все модели ~99% — AutoML впереди чуть-чуть. Чем больше и грязнее данные, тем заметнее его выигрыш.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ОСТОРОЖНО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AutoML НЕ заменяет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2C255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«Чёрный ящик»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9260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выдаёт результат, но плохо объясняет, почему именно так.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46520" y="2103120"/>
            <a:ext cx="5150815" cy="3291840"/>
          </a:xfrm>
          <a:prstGeom prst="roundRect">
            <a:avLst>
              <a:gd name="adj" fmla="val 3333"/>
            </a:avLst>
          </a:prstGeom>
          <a:solidFill>
            <a:srgbClr val="241E42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— на нас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12280" y="29260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ли утечки данных? Та ли метрика? Честная ли проверка (test/CV)?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ГОТОВЫЕ МОДЕЛИ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Hub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11002975" cy="1737360"/>
          </a:xfrm>
          <a:prstGeom prst="roundRect">
            <a:avLst>
              <a:gd name="adj" fmla="val 6316"/>
            </a:avLst>
          </a:prstGeom>
          <a:solidFill>
            <a:srgbClr val="2C255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286000"/>
            <a:ext cx="102714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Огромный склад готовых обученных моделей: перевод, тональность, распознавание.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94360" y="4023360"/>
            <a:ext cx="11002975" cy="1737360"/>
          </a:xfrm>
          <a:prstGeom prst="roundRect">
            <a:avLst>
              <a:gd name="adj" fmla="val 6316"/>
            </a:avLst>
          </a:prstGeom>
          <a:solidFill>
            <a:srgbClr val="241E4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251960"/>
            <a:ext cx="1027145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4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pipeline('translation', model='Helsinki-NLP/opus-mt-en-ru')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4892040"/>
            <a:ext cx="1027145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 задачу можно решить, вообще ничего не обучая — берёшь готовую модель и используешь.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УРОКА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02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унесём с урока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577840" cy="4023360"/>
          </a:xfrm>
          <a:prstGeom prst="roundRect">
            <a:avLst>
              <a:gd name="adj" fmla="val 2727"/>
            </a:avLst>
          </a:prstGeom>
          <a:solidFill>
            <a:srgbClr val="241E4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7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сам перебирает модели и выбирает лучшую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Быстрый сильный бейзлайн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заменяет проверку: утечка, метрика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— склад готовых моделей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46520" y="1920240"/>
            <a:ext cx="5150815" cy="4023360"/>
          </a:xfrm>
          <a:prstGeom prst="roundRect">
            <a:avLst>
              <a:gd name="adj" fmla="val 2727"/>
            </a:avLst>
          </a:prstGeom>
          <a:solidFill>
            <a:srgbClr val="2C2552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Домашнее задание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0" y="2743200"/>
            <a:ext cx="451073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мини-AutoML на своём датасете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лучшую модель с ручной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D9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на Hub готовую модель под свою задачу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58000" y="5394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урок 20: опубликуем модель как сайт.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71455" y="6355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Урок 19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2026-07-06T17:35:21Z</dcterms:created>
  <dcterms:modified xsi:type="dcterms:W3CDTF">2026-07-06T17:35:21Z</dcterms:modified>
</cp:coreProperties>
</file>