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6858000" cx="12188950"/>
  <p:notesSz cx="6858000" cy="1218895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" name="Google Shape;4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" name="Google Shape;6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" name="Google Shape;7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B4B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4338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10789920" y="4480560"/>
            <a:ext cx="2926080" cy="29260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3"/>
          <p:cNvSpPr txBox="1"/>
          <p:nvPr/>
        </p:nvSpPr>
        <p:spPr>
          <a:xfrm>
            <a:off x="640080" y="123444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МОЙ ФИНАЛЬНЫЙ ПРОЕКТ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640080" y="2194560"/>
            <a:ext cx="8595360" cy="1463040"/>
          </a:xfrm>
          <a:prstGeom prst="roundRect">
            <a:avLst>
              <a:gd fmla="val 6250" name="adj"/>
            </a:avLst>
          </a:prstGeom>
          <a:solidFill>
            <a:srgbClr val="2A2660"/>
          </a:solidFill>
          <a:ln cap="flat" cmpd="sng" w="22225">
            <a:solidFill>
              <a:srgbClr val="7C3AED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3"/>
          <p:cNvSpPr txBox="1"/>
          <p:nvPr/>
        </p:nvSpPr>
        <p:spPr>
          <a:xfrm>
            <a:off x="868680" y="2194560"/>
            <a:ext cx="81381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D2FE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C7D2FE"/>
                </a:solidFill>
                <a:latin typeface="Calibri"/>
                <a:ea typeface="Calibri"/>
                <a:cs typeface="Calibri"/>
                <a:sym typeface="Calibri"/>
              </a:rPr>
              <a:t>[</a:t>
            </a:r>
            <a:r>
              <a:rPr b="1" lang="en-US" sz="3600">
                <a:solidFill>
                  <a:srgbClr val="C7D2FE"/>
                </a:solidFill>
                <a:latin typeface="Calibri"/>
                <a:ea typeface="Calibri"/>
                <a:cs typeface="Calibri"/>
                <a:sym typeface="Calibri"/>
              </a:rPr>
              <a:t> Информационый телеграм бот</a:t>
            </a:r>
            <a:r>
              <a:rPr b="1" i="0" lang="en-US" sz="3600" u="none" cap="none" strike="noStrike">
                <a:solidFill>
                  <a:srgbClr val="C7D2FE"/>
                </a:solidFill>
                <a:latin typeface="Calibri"/>
                <a:ea typeface="Calibri"/>
                <a:cs typeface="Calibri"/>
                <a:sym typeface="Calibri"/>
              </a:rPr>
              <a:t> ]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640080" y="3931920"/>
            <a:ext cx="5852160" cy="777240"/>
          </a:xfrm>
          <a:prstGeom prst="roundRect">
            <a:avLst>
              <a:gd fmla="val 11765" name="adj"/>
            </a:avLst>
          </a:prstGeom>
          <a:solidFill>
            <a:srgbClr val="2A2660"/>
          </a:solidFill>
          <a:ln cap="flat" cmpd="sng" w="22225">
            <a:solidFill>
              <a:srgbClr val="7C3AED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3"/>
          <p:cNvSpPr txBox="1"/>
          <p:nvPr/>
        </p:nvSpPr>
        <p:spPr>
          <a:xfrm>
            <a:off x="868680" y="3931920"/>
            <a:ext cx="5577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D2FE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7D2FE"/>
                </a:solidFill>
                <a:latin typeface="Calibri"/>
                <a:ea typeface="Calibri"/>
                <a:cs typeface="Calibri"/>
                <a:sym typeface="Calibri"/>
              </a:rPr>
              <a:t>[ </a:t>
            </a:r>
            <a:r>
              <a:rPr lang="en-US" sz="2000">
                <a:solidFill>
                  <a:srgbClr val="C7D2FE"/>
                </a:solidFill>
                <a:latin typeface="Calibri"/>
                <a:ea typeface="Calibri"/>
                <a:cs typeface="Calibri"/>
                <a:sym typeface="Calibri"/>
              </a:rPr>
              <a:t>Акбар 8класс</a:t>
            </a:r>
            <a:r>
              <a:rPr b="0" i="0" lang="en-US" sz="2000" u="none" cap="none" strike="noStrike">
                <a:solidFill>
                  <a:srgbClr val="C7D2FE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" name="Google Shape;2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562356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/>
          <p:nvPr/>
        </p:nvSpPr>
        <p:spPr>
          <a:xfrm>
            <a:off x="1234440" y="55778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A5B4FC"/>
                </a:solidFill>
                <a:latin typeface="Calibri"/>
                <a:ea typeface="Calibri"/>
                <a:cs typeface="Calibri"/>
                <a:sym typeface="Calibri"/>
              </a:rPr>
              <a:t>Меняй только текст в скобках [ … ]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548640" y="548640"/>
            <a:ext cx="914400" cy="914400"/>
          </a:xfrm>
          <a:prstGeom prst="ellipse">
            <a:avLst/>
          </a:prstGeom>
          <a:solidFill>
            <a:srgbClr val="F1EE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1" name="Google Shape;3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" y="77724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1645920" y="502920"/>
            <a:ext cx="10058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О чём проект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 txBox="1"/>
          <p:nvPr/>
        </p:nvSpPr>
        <p:spPr>
          <a:xfrm>
            <a:off x="1673352" y="1234440"/>
            <a:ext cx="10058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786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6B6786"/>
                </a:solidFill>
                <a:latin typeface="Calibri"/>
                <a:ea typeface="Calibri"/>
                <a:cs typeface="Calibri"/>
                <a:sym typeface="Calibri"/>
              </a:rPr>
              <a:t>Одно простое предложение — что и зачем предсказываешь.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548640" y="2194560"/>
            <a:ext cx="11064240" cy="128016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22225">
            <a:solidFill>
              <a:srgbClr val="B7ADE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4"/>
          <p:cNvSpPr txBox="1"/>
          <p:nvPr/>
        </p:nvSpPr>
        <p:spPr>
          <a:xfrm>
            <a:off x="777260" y="2103148"/>
            <a:ext cx="105156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786"/>
              </a:buClr>
              <a:buSzPts val="2200"/>
              <a:buFont typeface="Calibri"/>
              <a:buNone/>
            </a:pPr>
            <a:r>
              <a:rPr i="1" lang="en-US" sz="2200">
                <a:solidFill>
                  <a:srgbClr val="6B6786"/>
                </a:solidFill>
                <a:latin typeface="Calibri"/>
                <a:ea typeface="Calibri"/>
                <a:cs typeface="Calibri"/>
                <a:sym typeface="Calibri"/>
              </a:rPr>
              <a:t>Я предсказываю прогноз погоды по данным о погоде с помощью искусственного интеллекта</a:t>
            </a:r>
            <a:r>
              <a:rPr b="0" i="1" lang="en-US" sz="2200" u="none" cap="none" strike="noStrike">
                <a:solidFill>
                  <a:srgbClr val="6B6786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548640" y="3749040"/>
            <a:ext cx="5394960" cy="109728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22225">
            <a:solidFill>
              <a:srgbClr val="B7ADE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"/>
          <p:cNvSpPr txBox="1"/>
          <p:nvPr/>
        </p:nvSpPr>
        <p:spPr>
          <a:xfrm>
            <a:off x="822960" y="3749040"/>
            <a:ext cx="48463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786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6B6786"/>
                </a:solidFill>
                <a:latin typeface="Calibri"/>
                <a:ea typeface="Calibri"/>
                <a:cs typeface="Calibri"/>
                <a:sym typeface="Calibri"/>
              </a:rPr>
              <a:t>Тип:</a:t>
            </a:r>
            <a:r>
              <a:rPr i="1" lang="en-US" sz="2000">
                <a:solidFill>
                  <a:srgbClr val="6B6786"/>
                </a:solidFill>
                <a:latin typeface="Calibri"/>
                <a:ea typeface="Calibri"/>
                <a:cs typeface="Calibri"/>
                <a:sym typeface="Calibri"/>
              </a:rPr>
              <a:t> Регрессия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6217920" y="3749040"/>
            <a:ext cx="5394960" cy="109728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22225">
            <a:solidFill>
              <a:srgbClr val="B7ADE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4"/>
          <p:cNvSpPr txBox="1"/>
          <p:nvPr/>
        </p:nvSpPr>
        <p:spPr>
          <a:xfrm>
            <a:off x="6492240" y="3749040"/>
            <a:ext cx="48463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786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6B6786"/>
                </a:solidFill>
                <a:latin typeface="Calibri"/>
                <a:ea typeface="Calibri"/>
                <a:cs typeface="Calibri"/>
                <a:sym typeface="Calibri"/>
              </a:rPr>
              <a:t>Зачем: </a:t>
            </a:r>
            <a:r>
              <a:rPr i="1" lang="en-US" sz="2000">
                <a:solidFill>
                  <a:srgbClr val="6B6786"/>
                </a:solidFill>
                <a:latin typeface="Calibri"/>
                <a:ea typeface="Calibri"/>
                <a:cs typeface="Calibri"/>
                <a:sym typeface="Calibri"/>
              </a:rPr>
              <a:t>Помогает пользователям быстро получать более удобный прогноз погоды в Telegram.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"/>
          <p:cNvSpPr/>
          <p:nvPr/>
        </p:nvSpPr>
        <p:spPr>
          <a:xfrm>
            <a:off x="548640" y="548640"/>
            <a:ext cx="914400" cy="914400"/>
          </a:xfrm>
          <a:prstGeom prst="ellipse">
            <a:avLst/>
          </a:prstGeom>
          <a:solidFill>
            <a:srgbClr val="F1EE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6" name="Google Shape;4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" y="77724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5"/>
          <p:cNvSpPr txBox="1"/>
          <p:nvPr/>
        </p:nvSpPr>
        <p:spPr>
          <a:xfrm>
            <a:off x="1645920" y="502920"/>
            <a:ext cx="10058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Данные и результат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 txBox="1"/>
          <p:nvPr/>
        </p:nvSpPr>
        <p:spPr>
          <a:xfrm>
            <a:off x="1673352" y="1234440"/>
            <a:ext cx="10058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786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6B6786"/>
                </a:solidFill>
                <a:latin typeface="Calibri"/>
                <a:ea typeface="Calibri"/>
                <a:cs typeface="Calibri"/>
                <a:sym typeface="Calibri"/>
              </a:rPr>
              <a:t>Откуда данные и насколько модель лучше «глупого» baseline.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548640" y="2148840"/>
            <a:ext cx="5486400" cy="1005840"/>
          </a:xfrm>
          <a:prstGeom prst="roundRect">
            <a:avLst>
              <a:gd fmla="val 9091" name="adj"/>
            </a:avLst>
          </a:prstGeom>
          <a:solidFill>
            <a:srgbClr val="FFFFFF"/>
          </a:solidFill>
          <a:ln cap="flat" cmpd="sng" w="22225">
            <a:solidFill>
              <a:srgbClr val="B7ADE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5"/>
          <p:cNvSpPr txBox="1"/>
          <p:nvPr/>
        </p:nvSpPr>
        <p:spPr>
          <a:xfrm>
            <a:off x="822960" y="2148840"/>
            <a:ext cx="49377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786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6B6786"/>
                </a:solidFill>
                <a:latin typeface="Calibri"/>
                <a:ea typeface="Calibri"/>
                <a:cs typeface="Calibri"/>
                <a:sym typeface="Calibri"/>
              </a:rPr>
              <a:t>Датасет: [ </a:t>
            </a:r>
            <a:r>
              <a:rPr i="1" lang="en-US" sz="2000">
                <a:solidFill>
                  <a:srgbClr val="6B6786"/>
                </a:solidFill>
                <a:latin typeface="Calibri"/>
                <a:ea typeface="Calibri"/>
                <a:cs typeface="Calibri"/>
                <a:sym typeface="Calibri"/>
              </a:rPr>
              <a:t>Исторические данные о погоде </a:t>
            </a:r>
            <a:r>
              <a:rPr b="0" i="1" lang="en-US" sz="2000" u="none" cap="none" strike="noStrike">
                <a:solidFill>
                  <a:srgbClr val="6B6786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6126480" y="2148840"/>
            <a:ext cx="5486400" cy="1005840"/>
          </a:xfrm>
          <a:prstGeom prst="roundRect">
            <a:avLst>
              <a:gd fmla="val 9091" name="adj"/>
            </a:avLst>
          </a:prstGeom>
          <a:solidFill>
            <a:srgbClr val="FFFFFF"/>
          </a:solidFill>
          <a:ln cap="flat" cmpd="sng" w="22225">
            <a:solidFill>
              <a:srgbClr val="B7ADE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5"/>
          <p:cNvSpPr txBox="1"/>
          <p:nvPr/>
        </p:nvSpPr>
        <p:spPr>
          <a:xfrm>
            <a:off x="6400800" y="2148840"/>
            <a:ext cx="49377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786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6B6786"/>
                </a:solidFill>
                <a:latin typeface="Calibri"/>
                <a:ea typeface="Calibri"/>
                <a:cs typeface="Calibri"/>
                <a:sym typeface="Calibri"/>
              </a:rPr>
              <a:t>Метрика: [ </a:t>
            </a:r>
            <a:r>
              <a:rPr i="1" lang="en-US" sz="2000">
                <a:solidFill>
                  <a:srgbClr val="6B6786"/>
                </a:solidFill>
                <a:latin typeface="Calibri"/>
                <a:ea typeface="Calibri"/>
                <a:cs typeface="Calibri"/>
                <a:sym typeface="Calibri"/>
              </a:rPr>
              <a:t>MAE (средняя абсолютная ошибка) </a:t>
            </a:r>
            <a:r>
              <a:rPr b="0" i="1" lang="en-US" sz="2000" u="none" cap="none" strike="noStrike">
                <a:solidFill>
                  <a:srgbClr val="6B6786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548640" y="3429000"/>
            <a:ext cx="5257800" cy="2331720"/>
          </a:xfrm>
          <a:prstGeom prst="roundRect">
            <a:avLst>
              <a:gd fmla="val 5490" name="adj"/>
            </a:avLst>
          </a:prstGeom>
          <a:solidFill>
            <a:srgbClr val="F8F7FD"/>
          </a:solidFill>
          <a:ln>
            <a:noFill/>
          </a:ln>
          <a:effectLst>
            <a:outerShdw blurRad="101600" rotWithShape="0" algn="bl" dir="5400000" dist="38100">
              <a:srgbClr val="312E81">
                <a:alpha val="1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5"/>
          <p:cNvSpPr txBox="1"/>
          <p:nvPr/>
        </p:nvSpPr>
        <p:spPr>
          <a:xfrm>
            <a:off x="548640" y="3703320"/>
            <a:ext cx="5257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786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6B6786"/>
                </a:solidFill>
                <a:latin typeface="Calibri"/>
                <a:ea typeface="Calibri"/>
                <a:cs typeface="Calibri"/>
                <a:sym typeface="Calibri"/>
              </a:rPr>
              <a:t>Baseline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 txBox="1"/>
          <p:nvPr/>
        </p:nvSpPr>
        <p:spPr>
          <a:xfrm>
            <a:off x="548640" y="4160520"/>
            <a:ext cx="5257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5200"/>
              <a:buFont typeface="Calibri"/>
              <a:buNone/>
            </a:pPr>
            <a:r>
              <a:rPr b="1" i="0" lang="en-US" sz="52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[  Обычный прогноз  ]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6355080" y="3429000"/>
            <a:ext cx="5257800" cy="2331720"/>
          </a:xfrm>
          <a:prstGeom prst="roundRect">
            <a:avLst>
              <a:gd fmla="val 5490" name="adj"/>
            </a:avLst>
          </a:prstGeom>
          <a:solidFill>
            <a:srgbClr val="F1EEFC"/>
          </a:solidFill>
          <a:ln>
            <a:noFill/>
          </a:ln>
          <a:effectLst>
            <a:outerShdw blurRad="101600" rotWithShape="0" algn="bl" dir="5400000" dist="38100">
              <a:srgbClr val="312E81">
                <a:alpha val="1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5"/>
          <p:cNvSpPr txBox="1"/>
          <p:nvPr/>
        </p:nvSpPr>
        <p:spPr>
          <a:xfrm>
            <a:off x="6355080" y="3703320"/>
            <a:ext cx="5257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Моя модель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 txBox="1"/>
          <p:nvPr/>
        </p:nvSpPr>
        <p:spPr>
          <a:xfrm>
            <a:off x="6355080" y="4160520"/>
            <a:ext cx="5257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5200"/>
              <a:buFont typeface="Calibri"/>
              <a:buNone/>
            </a:pPr>
            <a:r>
              <a:rPr b="1" i="0" lang="en-US" sz="52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[  ИИ-прогноз   ]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 txBox="1"/>
          <p:nvPr/>
        </p:nvSpPr>
        <p:spPr>
          <a:xfrm>
            <a:off x="5669280" y="3429000"/>
            <a:ext cx="685800" cy="2331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>
            <a:off x="548640" y="548640"/>
            <a:ext cx="914400" cy="914400"/>
          </a:xfrm>
          <a:prstGeom prst="ellipse">
            <a:avLst/>
          </a:prstGeom>
          <a:solidFill>
            <a:srgbClr val="F1EE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6" name="Google Shape;6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" y="77724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6"/>
          <p:cNvSpPr txBox="1"/>
          <p:nvPr/>
        </p:nvSpPr>
        <p:spPr>
          <a:xfrm>
            <a:off x="1645920" y="502920"/>
            <a:ext cx="10058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Демо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 txBox="1"/>
          <p:nvPr/>
        </p:nvSpPr>
        <p:spPr>
          <a:xfrm>
            <a:off x="1673352" y="1234440"/>
            <a:ext cx="10058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786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6B6786"/>
                </a:solidFill>
                <a:latin typeface="Calibri"/>
                <a:ea typeface="Calibri"/>
                <a:cs typeface="Calibri"/>
                <a:sym typeface="Calibri"/>
              </a:rPr>
              <a:t>Скриншот приложения. На защите дай нажать кнопку родителю!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392190" y="1920270"/>
            <a:ext cx="11064300" cy="4023300"/>
          </a:xfrm>
          <a:prstGeom prst="roundRect">
            <a:avLst>
              <a:gd fmla="val 2273" name="adj"/>
            </a:avLst>
          </a:prstGeom>
          <a:solidFill>
            <a:srgbClr val="F8F7FD"/>
          </a:solidFill>
          <a:ln cap="flat" cmpd="sng" w="22225">
            <a:solidFill>
              <a:srgbClr val="B7ADE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0" name="Google Shape;7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23560" y="347472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6"/>
          <p:cNvSpPr txBox="1"/>
          <p:nvPr/>
        </p:nvSpPr>
        <p:spPr>
          <a:xfrm>
            <a:off x="1463040" y="4663440"/>
            <a:ext cx="9235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786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" name="Google Shape;72;p6" title="Снимок экрана 2026-08-29 11071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88700" y="1920275"/>
            <a:ext cx="3057408" cy="4023300"/>
          </a:xfrm>
          <a:prstGeom prst="rect">
            <a:avLst/>
          </a:prstGeom>
          <a:solidFill>
            <a:srgbClr val="F8F7FD"/>
          </a:solidFill>
          <a:ln cap="flat" cmpd="sng" w="22225">
            <a:solidFill>
              <a:srgbClr val="B7ADE0"/>
            </a:solidFill>
            <a:prstDash val="dash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B4B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7"/>
          <p:cNvSpPr/>
          <p:nvPr/>
        </p:nvSpPr>
        <p:spPr>
          <a:xfrm>
            <a:off x="-1097280" y="4846320"/>
            <a:ext cx="3108960" cy="3108960"/>
          </a:xfrm>
          <a:prstGeom prst="ellipse">
            <a:avLst/>
          </a:prstGeom>
          <a:solidFill>
            <a:srgbClr val="4338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7"/>
          <p:cNvSpPr txBox="1"/>
          <p:nvPr/>
        </p:nvSpPr>
        <p:spPr>
          <a:xfrm>
            <a:off x="640080" y="822960"/>
            <a:ext cx="9144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Выводы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7"/>
          <p:cNvSpPr/>
          <p:nvPr/>
        </p:nvSpPr>
        <p:spPr>
          <a:xfrm>
            <a:off x="640080" y="1965960"/>
            <a:ext cx="10881360" cy="868680"/>
          </a:xfrm>
          <a:prstGeom prst="roundRect">
            <a:avLst>
              <a:gd fmla="val 10526" name="adj"/>
            </a:avLst>
          </a:prstGeom>
          <a:solidFill>
            <a:srgbClr val="2A2660"/>
          </a:solidFill>
          <a:ln cap="flat" cmpd="sng" w="22225">
            <a:solidFill>
              <a:srgbClr val="7C3AED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7"/>
          <p:cNvSpPr txBox="1"/>
          <p:nvPr/>
        </p:nvSpPr>
        <p:spPr>
          <a:xfrm>
            <a:off x="914400" y="1965960"/>
            <a:ext cx="103327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D2FE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C7D2FE"/>
                </a:solidFill>
                <a:latin typeface="Calibri"/>
                <a:ea typeface="Calibri"/>
                <a:cs typeface="Calibri"/>
                <a:sym typeface="Calibri"/>
              </a:rPr>
              <a:t>Что получилось: [</a:t>
            </a:r>
            <a:r>
              <a:rPr i="1" lang="en-US" sz="2000">
                <a:solidFill>
                  <a:srgbClr val="C7D2FE"/>
                </a:solidFill>
                <a:latin typeface="Calibri"/>
                <a:ea typeface="Calibri"/>
                <a:cs typeface="Calibri"/>
                <a:sym typeface="Calibri"/>
              </a:rPr>
              <a:t>получился телеграм бот который предсказывает погоды по всему миру</a:t>
            </a:r>
            <a:r>
              <a:rPr b="0" i="1" lang="en-US" sz="2000" u="none" cap="none" strike="noStrike">
                <a:solidFill>
                  <a:srgbClr val="C7D2FE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7"/>
          <p:cNvSpPr/>
          <p:nvPr/>
        </p:nvSpPr>
        <p:spPr>
          <a:xfrm>
            <a:off x="640080" y="3017520"/>
            <a:ext cx="10881360" cy="868680"/>
          </a:xfrm>
          <a:prstGeom prst="roundRect">
            <a:avLst>
              <a:gd fmla="val 10526" name="adj"/>
            </a:avLst>
          </a:prstGeom>
          <a:solidFill>
            <a:srgbClr val="2A2660"/>
          </a:solidFill>
          <a:ln cap="flat" cmpd="sng" w="22225">
            <a:solidFill>
              <a:srgbClr val="7C3AED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7"/>
          <p:cNvSpPr txBox="1"/>
          <p:nvPr/>
        </p:nvSpPr>
        <p:spPr>
          <a:xfrm>
            <a:off x="914400" y="3017520"/>
            <a:ext cx="103327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D2FE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C7D2FE"/>
                </a:solidFill>
                <a:latin typeface="Calibri"/>
                <a:ea typeface="Calibri"/>
                <a:cs typeface="Calibri"/>
                <a:sym typeface="Calibri"/>
              </a:rPr>
              <a:t>Что было сложно: [</a:t>
            </a:r>
            <a:r>
              <a:rPr i="1" lang="en-US" sz="2000">
                <a:solidFill>
                  <a:srgbClr val="C7D2FE"/>
                </a:solidFill>
                <a:latin typeface="Calibri"/>
                <a:ea typeface="Calibri"/>
                <a:cs typeface="Calibri"/>
                <a:sym typeface="Calibri"/>
              </a:rPr>
              <a:t> ничего сложного</a:t>
            </a:r>
            <a:r>
              <a:rPr b="0" i="1" lang="en-US" sz="2000" u="none" cap="none" strike="noStrike">
                <a:solidFill>
                  <a:srgbClr val="C7D2FE"/>
                </a:solidFill>
                <a:latin typeface="Calibri"/>
                <a:ea typeface="Calibri"/>
                <a:cs typeface="Calibri"/>
                <a:sym typeface="Calibri"/>
              </a:rPr>
              <a:t> ]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7"/>
          <p:cNvSpPr/>
          <p:nvPr/>
        </p:nvSpPr>
        <p:spPr>
          <a:xfrm>
            <a:off x="640080" y="4069080"/>
            <a:ext cx="10881360" cy="868680"/>
          </a:xfrm>
          <a:prstGeom prst="roundRect">
            <a:avLst>
              <a:gd fmla="val 10526" name="adj"/>
            </a:avLst>
          </a:prstGeom>
          <a:solidFill>
            <a:srgbClr val="2A2660"/>
          </a:solidFill>
          <a:ln cap="flat" cmpd="sng" w="22225">
            <a:solidFill>
              <a:srgbClr val="7C3AED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7"/>
          <p:cNvSpPr txBox="1"/>
          <p:nvPr/>
        </p:nvSpPr>
        <p:spPr>
          <a:xfrm>
            <a:off x="914400" y="4069080"/>
            <a:ext cx="103327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D2FE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C7D2FE"/>
                </a:solidFill>
                <a:latin typeface="Calibri"/>
                <a:ea typeface="Calibri"/>
                <a:cs typeface="Calibri"/>
                <a:sym typeface="Calibri"/>
              </a:rPr>
              <a:t>Что улучшу дальше: [</a:t>
            </a:r>
            <a:r>
              <a:rPr i="1" lang="en-US" sz="2000">
                <a:solidFill>
                  <a:srgbClr val="C7D2FE"/>
                </a:solidFill>
                <a:latin typeface="Calibri"/>
                <a:ea typeface="Calibri"/>
                <a:cs typeface="Calibri"/>
                <a:sym typeface="Calibri"/>
              </a:rPr>
              <a:t> добавлю прогноз будушегор</a:t>
            </a:r>
            <a:r>
              <a:rPr b="0" i="1" lang="en-US" sz="2000" u="none" cap="none" strike="noStrike">
                <a:solidFill>
                  <a:srgbClr val="C7D2FE"/>
                </a:solidFill>
                <a:latin typeface="Calibri"/>
                <a:ea typeface="Calibri"/>
                <a:cs typeface="Calibri"/>
                <a:sym typeface="Calibri"/>
              </a:rPr>
              <a:t> ]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6" name="Google Shape;8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56692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7"/>
          <p:cNvSpPr txBox="1"/>
          <p:nvPr/>
        </p:nvSpPr>
        <p:spPr>
          <a:xfrm>
            <a:off x="1234440" y="562356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Спасибо! Готов ответить на вопросы.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