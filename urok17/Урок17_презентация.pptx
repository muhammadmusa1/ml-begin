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463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5B4FC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0" y="1463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кошка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0" y="146304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2C2552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0" y="146304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418320" y="2286000"/>
            <a:ext cx="1005840" cy="502920"/>
          </a:xfrm>
          <a:prstGeom prst="roundRect">
            <a:avLst>
              <a:gd name="adj" fmla="val 14545"/>
            </a:avLst>
          </a:prstGeom>
          <a:solidFill>
            <a:srgbClr val="27D3EE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0" y="228600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75520" y="2286000"/>
            <a:ext cx="0" cy="-320040"/>
          </a:xfrm>
          <a:prstGeom prst="line">
            <a:avLst/>
          </a:prstGeom>
          <a:noFill/>
          <a:ln w="25400">
            <a:solidFill>
              <a:srgbClr val="27D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84080" y="2286000"/>
            <a:ext cx="0" cy="-320040"/>
          </a:xfrm>
          <a:prstGeom prst="line">
            <a:avLst/>
          </a:prstGeom>
          <a:noFill/>
          <a:ln w="25400">
            <a:solidFill>
              <a:srgbClr val="27D3E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146304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4 · НЕДЕЛЯ 9 · БОЛЬШИЕ ЯЗЫКОВЫЕ МОДЕЛИ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19202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94360" y="3794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· эмбеддинги · внимание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9436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17 · 90 минут · теория + BertViz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 · 0–10 МИН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Уверенная выдумка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17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11000232" cy="36576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/>
            <a:r>
              <a:rPr sz="1500" b="0" i="0">
                <a:solidFill>
                  <a:srgbClr val="9E96C8"/>
                </a:solidFill>
                <a:latin typeface="Calibri"/>
              </a:rPr>
              <a:t>Просим пересказать книгу, которой не существует: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286000"/>
            <a:ext cx="6675120" cy="566928"/>
          </a:xfrm>
          <a:prstGeom prst="roundRect">
            <a:avLst>
              <a:gd name="adj" fmla="val 12000"/>
            </a:avLst>
          </a:prstGeom>
          <a:solidFill>
            <a:srgbClr val="2C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300" b="1" i="0">
                <a:solidFill>
                  <a:srgbClr val="27D3EE"/>
                </a:solidFill>
                <a:latin typeface="Calibri"/>
              </a:rPr>
              <a:t>Вопрос:  </a:t>
            </a:r>
            <a:r>
              <a:rPr sz="1400" b="0" i="0">
                <a:solidFill>
                  <a:srgbClr val="D9D4F2"/>
                </a:solidFill>
                <a:latin typeface="Calibri"/>
              </a:rPr>
              <a:t>Перескажи книгу «Тень Хогвартса» Ф. М. Достоевского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999232"/>
            <a:ext cx="8851392" cy="1170432"/>
          </a:xfrm>
          <a:prstGeom prst="roundRect">
            <a:avLst>
              <a:gd name="adj" fmla="val 12000"/>
            </a:avLst>
          </a:prstGeom>
          <a:solidFill>
            <a:srgbClr val="241E42"/>
          </a:solidFill>
          <a:ln w="15875">
            <a:solidFill>
              <a:srgbClr val="5B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B7DF5"/>
                </a:solidFill>
                <a:latin typeface="Calibri"/>
              </a:rPr>
              <a:t>Ответ ИИ:  </a:t>
            </a:r>
            <a:r>
              <a:rPr sz="1400" b="0" i="0">
                <a:solidFill>
                  <a:srgbClr val="D9D4F2"/>
                </a:solidFill>
                <a:latin typeface="Calibri"/>
              </a:rPr>
              <a:t>«Тень Хогвартса» (1889) — поздний роман Достоевского. Юный студент Радомир, приехав в Петербург, оказывается втянут в тайное общество...</a:t>
            </a:r>
          </a:p>
          <a:p>
            <a:pPr algn="l"/>
            <a:r>
              <a:rPr sz="1250" b="1" i="0">
                <a:solidFill>
                  <a:srgbClr val="FF7A8A"/>
                </a:solidFill>
                <a:latin typeface="Calibri"/>
              </a:rPr>
              <a:t>книги не существует — модель уверенно всё выдумала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34840"/>
            <a:ext cx="11000232" cy="914400"/>
          </a:xfrm>
          <a:prstGeom prst="rect">
            <a:avLst/>
          </a:prstGeom>
          <a:noFill/>
        </p:spPr>
        <p:txBody>
          <a:bodyPr wrap="square" anchor="t" lIns="274320" rIns="274320" tIns="54864" bIns="54864">
            <a:spAutoFit/>
          </a:bodyPr>
          <a:lstStyle/>
          <a:p>
            <a:pPr algn="ctr"/>
            <a:r>
              <a:rPr sz="1600" b="0" i="1">
                <a:solidFill>
                  <a:srgbClr val="2DD4BF"/>
                </a:solidFill>
                <a:latin typeface="Calibri"/>
              </a:rPr>
              <a:t>Она не соврала специально. LLM — очень умный автодополнитель: подбирает правдоподобное продолжение, а не проверяет правду.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→ числа: токены и эмбеддинги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241E4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B7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283464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режется на кусочки, каждому — номер. Для модели фраза = список чисел.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4023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«машинное» → маш · ин · ное  (1 слово = 3 токена)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46520" y="2011680"/>
            <a:ext cx="5150815" cy="3657600"/>
          </a:xfrm>
          <a:prstGeom prst="roundRect">
            <a:avLst>
              <a:gd name="adj" fmla="val 3000"/>
            </a:avLst>
          </a:prstGeom>
          <a:solidFill>
            <a:srgbClr val="2C255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12280" y="28346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токен → вектор чисел. Близкие по смыслу слова — близкие векторы.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12280" y="4892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 уроке 14 картинка была числами — здесь числами становятся слова.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17</a:t>
            </a:r>
            <a:endParaRPr lang="en-US" sz="1100" dirty="0"/>
          </a:p>
        </p:txBody>
      </p:sp>
      <p:sp>
        <p:nvSpPr>
          <p:cNvPr id="14" name="TextBox 13"/>
          <p:cNvSpPr txBox="1"/>
          <p:nvPr/>
        </p:nvSpPr>
        <p:spPr>
          <a:xfrm>
            <a:off x="6812280" y="3913632"/>
            <a:ext cx="4572000" cy="411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/>
            <a:r>
              <a:rPr sz="1300" b="0" i="0">
                <a:solidFill>
                  <a:srgbClr val="9E96C8"/>
                </a:solidFill>
                <a:latin typeface="Calibri"/>
              </a:rPr>
              <a:t>«король» → </a:t>
            </a:r>
            <a:r>
              <a:rPr sz="1400" b="1" i="0">
                <a:solidFill>
                  <a:srgbClr val="27D3EE"/>
                </a:solidFill>
                <a:latin typeface="Consolas"/>
              </a:rPr>
              <a:t>[0.9, 0.2, 0.1]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4315968"/>
            <a:ext cx="4937760" cy="502920"/>
          </a:xfrm>
          <a:prstGeom prst="roundRect">
            <a:avLst>
              <a:gd name="adj" fmla="val 20000"/>
            </a:avLst>
          </a:prstGeom>
          <a:solidFill>
            <a:srgbClr val="5B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500" b="1" i="0">
                <a:solidFill>
                  <a:srgbClr val="FFFFFF"/>
                </a:solidFill>
                <a:latin typeface="Consolas"/>
              </a:rPr>
              <a:t>король − мужчина + женщина = королева 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ИДЕЯ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Внимание: на какие слова смотреть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11002975" cy="1645920"/>
          </a:xfrm>
          <a:prstGeom prst="roundRect">
            <a:avLst>
              <a:gd name="adj" fmla="val 6667"/>
            </a:avLst>
          </a:prstGeom>
          <a:solidFill>
            <a:srgbClr val="2C255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194560"/>
            <a:ext cx="1027145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«Кошка гналась за мышью, потому что она была голодной»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1027145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«Голодной» — про охотницу, поэтому «она» смотрит на «кошку». Замени конец на «…была быстрой» — и «она» смотрит уже на «мышь». Смысл решает, куда смотреть.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4343400"/>
            <a:ext cx="11002975" cy="1828800"/>
          </a:xfrm>
          <a:prstGeom prst="roundRect">
            <a:avLst>
              <a:gd name="adj" fmla="val 6000"/>
            </a:avLst>
          </a:prstGeom>
          <a:solidFill>
            <a:srgbClr val="241E4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4526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 на пальцах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стопка слоёв внимания: слова снова и снова «переглядываются» и уточняют смысл друг друга.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17</a:t>
            </a:r>
            <a:endParaRPr lang="en-US" sz="1100" dirty="0"/>
          </a:p>
        </p:txBody>
      </p:sp>
      <p:sp>
        <p:nvSpPr>
          <p:cNvPr id="11" name="Rounded Rectangle 10"/>
          <p:cNvSpPr/>
          <p:nvPr/>
        </p:nvSpPr>
        <p:spPr>
          <a:xfrm>
            <a:off x="960120" y="3566160"/>
            <a:ext cx="10268712" cy="658368"/>
          </a:xfrm>
          <a:prstGeom prst="roundRect">
            <a:avLst>
              <a:gd name="adj" fmla="val 12000"/>
            </a:avLst>
          </a:prstGeom>
          <a:solidFill>
            <a:srgbClr val="2C2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400" b="0" i="0">
                <a:solidFill>
                  <a:srgbClr val="9E96C8"/>
                </a:solidFill>
                <a:latin typeface="Consolas"/>
              </a:rPr>
              <a:t>…голодной   </a:t>
            </a:r>
            <a:r>
              <a:rPr sz="1500" b="1" i="0">
                <a:solidFill>
                  <a:srgbClr val="27D3EE"/>
                </a:solidFill>
                <a:latin typeface="Consolas"/>
              </a:rPr>
              <a:t>→   она ⟶ «Кошка»</a:t>
            </a:r>
            <a:r>
              <a:rPr sz="1400" b="0" i="0">
                <a:solidFill>
                  <a:srgbClr val="9E96C8"/>
                </a:solidFill>
                <a:latin typeface="Consolas"/>
              </a:rPr>
              <a:t>        …быстрой   </a:t>
            </a:r>
            <a:r>
              <a:rPr sz="1500" b="1" i="0">
                <a:solidFill>
                  <a:srgbClr val="2DD4BF"/>
                </a:solidFill>
                <a:latin typeface="Consolas"/>
              </a:rPr>
              <a:t>→   она ⟶ «мышью»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ЧЕСТНЫЙ РАЗГОВОР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модель галлюцинирует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11002975" cy="1737360"/>
          </a:xfrm>
          <a:prstGeom prst="roundRect">
            <a:avLst>
              <a:gd name="adj" fmla="val 6316"/>
            </a:avLst>
          </a:prstGeom>
          <a:solidFill>
            <a:srgbClr val="2C255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240280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выдаёт самое правдоподобное продолжение — не истину.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3931920"/>
            <a:ext cx="11002975" cy="1828800"/>
          </a:xfrm>
          <a:prstGeom prst="roundRect">
            <a:avLst>
              <a:gd name="adj" fmla="val 6000"/>
            </a:avLst>
          </a:prstGeom>
          <a:solidFill>
            <a:srgbClr val="241E4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14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с уроком 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617720"/>
            <a:ext cx="1027145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сеть уверенно называла цифру на шуме — так LLM уверенно выдумывает факт. Правдоподобно ≠ правда. Факты проверяем.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17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УРОКА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унесём с урока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577840" cy="4023360"/>
          </a:xfrm>
          <a:prstGeom prst="roundRect">
            <a:avLst>
              <a:gd name="adj" fmla="val 2727"/>
            </a:avLst>
          </a:prstGeom>
          <a:solidFill>
            <a:srgbClr val="241E4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понимает — она считает числа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→ токены → эмбеддинги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Близкие по смыслу слова — близкие числа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Внимание — на какие слова смотреть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Правдоподобно ≠ правда (галлюцинации)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920240"/>
            <a:ext cx="5150815" cy="4023360"/>
          </a:xfrm>
          <a:prstGeom prst="roundRect">
            <a:avLst>
              <a:gd name="adj" fmla="val 2727"/>
            </a:avLst>
          </a:prstGeom>
          <a:solidFill>
            <a:srgbClr val="2C2552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Домашнее задание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0" y="2743200"/>
            <a:ext cx="451073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Разбить своё предложение на токены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слова в эмбеддинги, найти близкие пары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Объяснить словами, почему модель может выдумать факт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0" y="5394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урок 18: заставим модель работать.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2026-07-06T17:18:15Z</dcterms:created>
  <dcterms:modified xsi:type="dcterms:W3CDTF">2026-07-06T17:18:15Z</dcterms:modified>
</cp:coreProperties>
</file>