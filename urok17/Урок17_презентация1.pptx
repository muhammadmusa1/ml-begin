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13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1463040"/>
            <a:ext cx="1280160" cy="502920"/>
          </a:xfrm>
          <a:prstGeom prst="roundRect">
            <a:avLst>
              <a:gd name="adj" fmla="val 14545"/>
            </a:avLst>
          </a:prstGeom>
          <a:solidFill>
            <a:srgbClr val="5B4FC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0" y="146304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кошка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515600" y="1463040"/>
            <a:ext cx="914400" cy="502920"/>
          </a:xfrm>
          <a:prstGeom prst="roundRect">
            <a:avLst>
              <a:gd name="adj" fmla="val 14545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10515600" y="146304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…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418320" y="228600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27D3EE"/>
          </a:solidFill>
          <a:ln/>
        </p:spPr>
      </p:sp>
      <p:sp>
        <p:nvSpPr>
          <p:cNvPr id="7" name="Text 5"/>
          <p:cNvSpPr/>
          <p:nvPr/>
        </p:nvSpPr>
        <p:spPr>
          <a:xfrm>
            <a:off x="9418320" y="2286000"/>
            <a:ext cx="1005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13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она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875520" y="2286000"/>
            <a:ext cx="0" cy="-320040"/>
          </a:xfrm>
          <a:prstGeom prst="line">
            <a:avLst/>
          </a:prstGeom>
          <a:noFill/>
          <a:ln w="25400">
            <a:solidFill>
              <a:srgbClr val="27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2286000"/>
            <a:ext cx="0" cy="-320040"/>
          </a:xfrm>
          <a:prstGeom prst="line">
            <a:avLst/>
          </a:prstGeom>
          <a:noFill/>
          <a:ln w="25400">
            <a:solidFill>
              <a:srgbClr val="27D3EE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594360" y="1463040"/>
            <a:ext cx="795528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ФАЗА 4 · НЕДЕЛЯ 9 · БОЛЬШИЕ ЯЗЫКОВЫЕ МОДЕЛИ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192024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</a:t>
            </a:r>
            <a:endParaRPr lang="en-US" sz="48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94360" y="3794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 · эмбеддинги · внимание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9436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 · 90 минут · теория + BertViz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ВОВЛЕЧЕНИЕ · 0–10 МИН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Уверенная выдумка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000232" cy="365760"/>
          </a:xfrm>
          <a:prstGeom prst="rect">
            <a:avLst/>
          </a:prstGeom>
          <a:noFill/>
        </p:spPr>
        <p:txBody>
          <a:bodyPr wrap="square" anchor="t" lIns="0" rIns="0" tIns="54864" bIns="54864">
            <a:spAutoFit/>
          </a:bodyPr>
          <a:lstStyle/>
          <a:p>
            <a:pPr algn="l"/>
            <a:r>
              <a:rPr sz="1500" b="0" i="0">
                <a:solidFill>
                  <a:srgbClr val="9E96C8"/>
                </a:solidFill>
                <a:latin typeface="Calibri"/>
              </a:rPr>
              <a:t>Просим пересказать книгу, которой не существует: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2286000"/>
            <a:ext cx="6675120" cy="566928"/>
          </a:xfrm>
          <a:prstGeom prst="roundRect">
            <a:avLst>
              <a:gd name="adj" fmla="val 12000"/>
            </a:avLst>
          </a:prstGeom>
          <a:solidFill>
            <a:srgbClr val="2C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/>
            <a:r>
              <a:rPr sz="1300" b="1" i="0">
                <a:solidFill>
                  <a:srgbClr val="27D3EE"/>
                </a:solidFill>
                <a:latin typeface="Calibri"/>
              </a:rPr>
              <a:t>Вопрос:  </a:t>
            </a:r>
            <a:r>
              <a:rPr sz="1400" b="0" i="0">
                <a:solidFill>
                  <a:srgbClr val="D9D4F2"/>
                </a:solidFill>
                <a:latin typeface="Calibri"/>
              </a:rPr>
              <a:t>Перескажи книгу «Тень Хогвартса» Ф. М. Достоевского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99232"/>
            <a:ext cx="8851392" cy="1170432"/>
          </a:xfrm>
          <a:prstGeom prst="roundRect">
            <a:avLst>
              <a:gd name="adj" fmla="val 12000"/>
            </a:avLst>
          </a:prstGeom>
          <a:solidFill>
            <a:srgbClr val="241E42"/>
          </a:solidFill>
          <a:ln w="15875">
            <a:solidFill>
              <a:srgbClr val="5B4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8B7DF5"/>
                </a:solidFill>
                <a:latin typeface="Calibri"/>
              </a:rPr>
              <a:t>Ответ ИИ:  </a:t>
            </a:r>
            <a:r>
              <a:rPr sz="1400" b="0" i="0">
                <a:solidFill>
                  <a:srgbClr val="D9D4F2"/>
                </a:solidFill>
                <a:latin typeface="Calibri"/>
              </a:rPr>
              <a:t>«Тень Хогвартса» (1889) — поздний роман Достоевского. Юный студент Радомир, приехав в Петербург, оказывается втянут в тайное общество...</a:t>
            </a:r>
          </a:p>
          <a:p>
            <a:pPr algn="l"/>
            <a:r>
              <a:rPr sz="1250" b="1" i="0">
                <a:solidFill>
                  <a:srgbClr val="FF7A8A"/>
                </a:solidFill>
                <a:latin typeface="Calibri"/>
              </a:rPr>
              <a:t>книги не существует — модель уверенно всё выдумала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4434840"/>
            <a:ext cx="11000232" cy="914400"/>
          </a:xfrm>
          <a:prstGeom prst="rect">
            <a:avLst/>
          </a:prstGeom>
          <a:noFill/>
        </p:spPr>
        <p:txBody>
          <a:bodyPr wrap="square" anchor="t" lIns="274320" rIns="274320" tIns="54864" bIns="54864">
            <a:spAutoFit/>
          </a:bodyPr>
          <a:lstStyle/>
          <a:p>
            <a:pPr algn="ctr"/>
            <a:r>
              <a:rPr sz="1600" b="0" i="1">
                <a:solidFill>
                  <a:srgbClr val="2DD4BF"/>
                </a:solidFill>
                <a:latin typeface="Calibri"/>
              </a:rPr>
              <a:t>Она не соврала специально. LLM — очень умный автодополнитель: подбирает правдоподобное продолжение, а не проверяет правду.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ТЕОРИЯ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→ числа: токены и эмбеддинги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5212080" cy="3657600"/>
          </a:xfrm>
          <a:prstGeom prst="roundRect">
            <a:avLst>
              <a:gd name="adj" fmla="val 3000"/>
            </a:avLst>
          </a:prstGeom>
          <a:solidFill>
            <a:srgbClr val="241E4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8B7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60120" y="2834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режется на кусочки, каждому — номер. Для модели фраза = список чисел.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0120" y="4023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7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«машинное» → маш · ин · ное  (1 слово = 3 токена)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46520" y="2011680"/>
            <a:ext cx="5150815" cy="3657600"/>
          </a:xfrm>
          <a:prstGeom prst="roundRect">
            <a:avLst>
              <a:gd name="adj" fmla="val 3000"/>
            </a:avLst>
          </a:prstGeom>
          <a:solidFill>
            <a:srgbClr val="2C2552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681228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Эмбеддинги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812280" y="283464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токен → вектор чисел = координаты слова в пространстве смыслов. Близкие по смыслу — рядом.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12280" y="4892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на уроке 14 картинка была числами — здесь числами становятся слова.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  <p:sp>
        <p:nvSpPr>
          <p:cNvPr id="14" name="TextBox 13"/>
          <p:cNvSpPr txBox="1"/>
          <p:nvPr/>
        </p:nvSpPr>
        <p:spPr>
          <a:xfrm>
            <a:off x="6812280" y="3913632"/>
            <a:ext cx="4572000" cy="411480"/>
          </a:xfrm>
          <a:prstGeom prst="rect">
            <a:avLst/>
          </a:prstGeom>
          <a:noFill/>
        </p:spPr>
        <p:txBody>
          <a:bodyPr wrap="square" anchor="t" lIns="109728" rIns="109728" tIns="54864" bIns="54864">
            <a:spAutoFit/>
          </a:bodyPr>
          <a:lstStyle/>
          <a:p>
            <a:pPr algn="l"/>
            <a:r>
              <a:rPr sz="1300" b="0" i="0">
                <a:solidFill>
                  <a:srgbClr val="9E96C8"/>
                </a:solidFill>
                <a:latin typeface="Calibri"/>
              </a:rPr>
              <a:t>«король» → </a:t>
            </a:r>
            <a:r>
              <a:rPr sz="1400" b="1" i="0">
                <a:solidFill>
                  <a:srgbClr val="27D3EE"/>
                </a:solidFill>
                <a:latin typeface="Consolas"/>
              </a:rPr>
              <a:t>[0.9, 0.2, 0.1]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4315968"/>
            <a:ext cx="4937760" cy="502920"/>
          </a:xfrm>
          <a:prstGeom prst="roundRect">
            <a:avLst>
              <a:gd name="adj" fmla="val 20000"/>
            </a:avLst>
          </a:prstGeom>
          <a:solidFill>
            <a:srgbClr val="5B4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500" b="1" i="0">
                <a:solidFill>
                  <a:srgbClr val="FFFFFF"/>
                </a:solidFill>
                <a:latin typeface="Consolas"/>
              </a:rPr>
              <a:t>король − мужчина + женщина = королева 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1627632"/>
            <a:ext cx="11000232" cy="320040"/>
          </a:xfrm>
          <a:prstGeom prst="rect">
            <a:avLst/>
          </a:prstGeom>
          <a:noFill/>
        </p:spPr>
        <p:txBody>
          <a:bodyPr wrap="square" anchor="t" lIns="0" rIns="0" tIns="27432" bIns="27432">
            <a:spAutoFit/>
          </a:bodyPr>
          <a:lstStyle/>
          <a:p>
            <a:pPr algn="l"/>
            <a:r>
              <a:rPr sz="1400" b="0" i="1">
                <a:solidFill>
                  <a:srgbClr val="9E96C8"/>
                </a:solidFill>
                <a:latin typeface="Calibri"/>
              </a:rPr>
              <a:t>Помните урок 14: картинка стала числами? С текстом — то же самое.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Внимание: на какие слова смотреть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645920"/>
          </a:xfrm>
          <a:prstGeom prst="roundRect">
            <a:avLst>
              <a:gd name="adj" fmla="val 6667"/>
            </a:avLst>
          </a:prstGeom>
          <a:solidFill>
            <a:srgbClr val="2C2552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2194560"/>
            <a:ext cx="1027145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«Кошка гналась за мышью, потому что она была голодной»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2788920"/>
            <a:ext cx="1027145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«Голодной» — про охотницу, поэтому «она» смотрит на «кошку». Замени конец на «…была быстрой» — и «она» смотрит уже на «мышь». Смысл решает, куда смотреть.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94360" y="434340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41E4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60120" y="4526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 = модель на внимании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5029200"/>
            <a:ext cx="1027145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Трансформер — модель, построенная на внимании (ChatGPT — это трансформер). Слои внимания работают как совещание: каждое слово «слушает» все остальные и уточняет свой смысл.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 ВЖИВУЮ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что «смотрит» слово «она»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  <p:pic>
        <p:nvPicPr>
          <p:cNvPr id="10" name="Picture 9" descr="attn_ar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40"/>
            <a:ext cx="10515600" cy="28919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4360" y="5212080"/>
            <a:ext cx="11000232" cy="640080"/>
          </a:xfrm>
          <a:prstGeom prst="rect">
            <a:avLst/>
          </a:prstGeom>
          <a:noFill/>
        </p:spPr>
        <p:txBody>
          <a:bodyPr wrap="square" anchor="t" lIns="274320" rIns="274320" tIns="27432" bIns="27432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  <a:latin typeface="Calibri"/>
              </a:rPr>
              <a:t>Одно и то же «она» — но смысл фразы решает, на какое слово оно смотрит. </a:t>
            </a:r>
            <a:r>
              <a:rPr sz="1600" b="1" i="0">
                <a:solidFill>
                  <a:srgbClr val="FFFFFF"/>
                </a:solidFill>
                <a:latin typeface="Calibri"/>
              </a:rPr>
              <a:t>Толстая дуга = сильное внимание.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ЧЕСТНЫЙ РАЗГОВОР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модель галлюцинирует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2011680"/>
            <a:ext cx="11002975" cy="1737360"/>
          </a:xfrm>
          <a:prstGeom prst="roundRect">
            <a:avLst>
              <a:gd name="adj" fmla="val 6316"/>
            </a:avLst>
          </a:prstGeom>
          <a:solidFill>
            <a:srgbClr val="2C255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240280"/>
            <a:ext cx="1027145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выдаёт самое правдоподобное продолжение — не истину.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94360" y="3931920"/>
            <a:ext cx="11002975" cy="1828800"/>
          </a:xfrm>
          <a:prstGeom prst="roundRect">
            <a:avLst>
              <a:gd name="adj" fmla="val 6000"/>
            </a:avLst>
          </a:prstGeom>
          <a:solidFill>
            <a:srgbClr val="241E42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 уроком 14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60120" y="4617720"/>
            <a:ext cx="10271455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сеть уверенно называла цифру на шуме — так LLM уверенно выдумывает факт. Правдоподобно ≠ правда. Факты проверяем.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57200"/>
            <a:ext cx="1100297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УРОКА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749808"/>
            <a:ext cx="1100297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унесём с урока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920240"/>
            <a:ext cx="5577840" cy="4023360"/>
          </a:xfrm>
          <a:prstGeom prst="roundRect">
            <a:avLst>
              <a:gd name="adj" fmla="val 2727"/>
            </a:avLst>
          </a:prstGeom>
          <a:solidFill>
            <a:srgbClr val="241E42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7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Главное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2743200"/>
            <a:ext cx="49377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не понимает — она считает числа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→ токены → эмбеддинги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Близкие по смыслу слова — близкие числа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 — на какие слова смотреть</a:t>
            </a:r>
            <a:endParaRPr lang="en-US" sz="16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6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Правдоподобно ≠ правда (галлюцинации)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46520" y="1920240"/>
            <a:ext cx="5150815" cy="4023360"/>
          </a:xfrm>
          <a:prstGeom prst="roundRect">
            <a:avLst>
              <a:gd name="adj" fmla="val 2727"/>
            </a:avLst>
          </a:prstGeom>
          <a:solidFill>
            <a:srgbClr val="2C2552"/>
          </a:solidFill>
          <a:ln/>
        </p:spPr>
      </p:sp>
      <p:sp>
        <p:nvSpPr>
          <p:cNvPr id="8" name="Text 6"/>
          <p:cNvSpPr/>
          <p:nvPr/>
        </p:nvSpPr>
        <p:spPr>
          <a:xfrm>
            <a:off x="68122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0" y="2743200"/>
            <a:ext cx="4510735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Разбить своё предложение на токены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Добавить слова в эмбеддинги, найти близкие пары</a:t>
            </a:r>
            <a:endParaRPr lang="en-US" sz="17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700" dirty="0">
                <a:solidFill>
                  <a:srgbClr val="D9D4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Объяснить словами, почему модель может выдумать факт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858000" y="5394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Дальше — урок 18: заставим модель работать.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271455" y="63550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dirty="0">
                <a:solidFill>
                  <a:srgbClr val="9E9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Урок 17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2026-07-06T17:18:15Z</dcterms:created>
  <dcterms:modified xsi:type="dcterms:W3CDTF">2026-07-06T17:18:15Z</dcterms:modified>
</cp:coreProperties>
</file>