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4 · НЕДЕЛЯ 9 · ПРАКТИКА + КОНКУРС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737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на практике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94360" y="3017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Промптинг · классификация · свой бот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18 · 90 минут · Hugging Face + LLM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0" y="1600200"/>
            <a:ext cx="2651760" cy="685800"/>
          </a:xfrm>
          <a:prstGeom prst="roundRect">
            <a:avLst>
              <a:gd name="adj" fmla="val 16000"/>
            </a:avLst>
          </a:prstGeom>
          <a:solidFill>
            <a:srgbClr val="5B4FC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0" y="160020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 — эксперт…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0" y="2496312"/>
            <a:ext cx="2651760" cy="685800"/>
          </a:xfrm>
          <a:prstGeom prst="roundRect">
            <a:avLst>
              <a:gd name="adj" fmla="val 16000"/>
            </a:avLst>
          </a:prstGeom>
          <a:solidFill>
            <a:srgbClr val="8B7DF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0" y="2496312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→ ответ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0" y="3392424"/>
            <a:ext cx="2651760" cy="685800"/>
          </a:xfrm>
          <a:prstGeom prst="roundRect">
            <a:avLst>
              <a:gd name="adj" fmla="val 16000"/>
            </a:avLst>
          </a:prstGeom>
          <a:solidFill>
            <a:srgbClr val="27D3E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0" y="3392424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рассуждай по шагам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ВОВЛЕЧЕНИЕ · 0–10 МИН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отзывов в день — как разобрать?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241280" y="638251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11000232" cy="914400"/>
          </a:xfrm>
          <a:prstGeom prst="roundRect">
            <a:avLst>
              <a:gd name="adj" fmla="val 12000"/>
            </a:avLst>
          </a:prstGeom>
          <a:solidFill>
            <a:srgbClr val="241E4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 </a:t>
            </a:r>
            <a:pPr indent="0" marL="0"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получает тысячи отзывов в день. Прочитать вручную — это недели работы.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3200400"/>
            <a:ext cx="11000232" cy="1874520"/>
          </a:xfrm>
          <a:prstGeom prst="roundRect">
            <a:avLst>
              <a:gd name="adj" fmla="val 5854"/>
            </a:avLst>
          </a:prstGeom>
          <a:solidFill>
            <a:srgbClr val="0E0B2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2900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transformers import pipeline
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sentiment = pipeline("sentiment-analysis")
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sentiment("Отличный сервис!")   </a:t>
            </a:r>
            <a:pPr indent="0" marL="0">
              <a:buNone/>
            </a:pPr>
            <a:r>
              <a:rPr lang="en-US" sz="1800" dirty="0">
                <a:solidFill>
                  <a:srgbClr val="9E96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POSITIVE 0.99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5257800"/>
            <a:ext cx="1100023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строки — и модель читает отзывы за тебя. Ничего обучать не нужно.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это задание модели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241280" y="638251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11000232" cy="868680"/>
          </a:xfrm>
          <a:prstGeom prst="roundRect">
            <a:avLst>
              <a:gd name="adj" fmla="val 12632"/>
            </a:avLst>
          </a:prstGeom>
          <a:solidFill>
            <a:srgbClr val="2C255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Аналогия:  </a:t>
            </a:r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— как способный стажёр. Всё умеет, но мыслей не читает: каков вопрос — таков ответ.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297180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241E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Расплывчато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«напиши про собак»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892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общий, скучный ответ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82512" y="297180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241E42"/>
          </a:solidFill>
          <a:ln/>
        </p:spPr>
      </p:sp>
      <p:sp>
        <p:nvSpPr>
          <p:cNvPr id="12" name="Text 10"/>
          <p:cNvSpPr/>
          <p:nvPr/>
        </p:nvSpPr>
        <p:spPr>
          <a:xfrm>
            <a:off x="6702552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02552" y="37947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«Ты биолог. В 3 пунктах объясни школьнику, почему собаки виляют хвостом»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02552" y="4892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точный, полезный ответ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приёма хорошего промпта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241280" y="638251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241E42"/>
          </a:solidFill>
          <a:ln/>
        </p:spPr>
      </p:sp>
      <p:sp>
        <p:nvSpPr>
          <p:cNvPr id="6" name="Shape 4"/>
          <p:cNvSpPr/>
          <p:nvPr/>
        </p:nvSpPr>
        <p:spPr>
          <a:xfrm>
            <a:off x="1892808" y="2103120"/>
            <a:ext cx="822960" cy="82296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7" name="Text 5"/>
          <p:cNvSpPr/>
          <p:nvPr/>
        </p:nvSpPr>
        <p:spPr>
          <a:xfrm>
            <a:off x="1892808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" y="306324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«Ты — опытный …» — задаёт тон и уровень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06824" y="182880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241E42"/>
          </a:solidFill>
          <a:ln/>
        </p:spPr>
      </p:sp>
      <p:sp>
        <p:nvSpPr>
          <p:cNvPr id="11" name="Shape 9"/>
          <p:cNvSpPr/>
          <p:nvPr/>
        </p:nvSpPr>
        <p:spPr>
          <a:xfrm>
            <a:off x="5605272" y="2103120"/>
            <a:ext cx="822960" cy="822960"/>
          </a:xfrm>
          <a:prstGeom prst="ellipse">
            <a:avLst/>
          </a:prstGeom>
          <a:solidFill>
            <a:srgbClr val="27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5605272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306824" y="306324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35424" y="35204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«вход → ответ» — модель ловит формат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19288" y="182880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241E42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7736" y="2103120"/>
            <a:ext cx="822960" cy="822960"/>
          </a:xfrm>
          <a:prstGeom prst="ellipse">
            <a:avLst/>
          </a:prstGeom>
          <a:solidFill>
            <a:srgbClr val="8B7DF5"/>
          </a:solidFill>
          <a:ln/>
        </p:spPr>
      </p:sp>
      <p:sp>
        <p:nvSpPr>
          <p:cNvPr id="17" name="Text 15"/>
          <p:cNvSpPr/>
          <p:nvPr/>
        </p:nvSpPr>
        <p:spPr>
          <a:xfrm>
            <a:off x="9317736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019288" y="306324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247888" y="35204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«ответь одним словом» — модель не растекается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434340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Бонус: </a:t>
            </a:r>
            <a:pPr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«рассуждай по шагам» (цепочка мыслей) — точнее на сложных задачах.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4892040"/>
            <a:ext cx="11000232" cy="777240"/>
          </a:xfrm>
          <a:prstGeom prst="roundRect">
            <a:avLst>
              <a:gd name="adj" fmla="val 14118"/>
            </a:avLst>
          </a:prstGeom>
          <a:solidFill>
            <a:srgbClr val="2C2552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9204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ПОПРОБУЙ САМ (2 мин):  </a:t>
            </a:r>
            <a:pPr indent="0" marL="0">
              <a:buNone/>
            </a:pPr>
            <a:r>
              <a:rPr lang="en-US" sz="15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возьми свой вопрос, добавь роль + формат и сравни ответ «до» и «после».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 БОТА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Системный промпт задаёт личность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241280" y="638251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11000232" cy="960120"/>
          </a:xfrm>
          <a:prstGeom prst="roundRect">
            <a:avLst>
              <a:gd name="adj" fmla="val 11429"/>
            </a:avLst>
          </a:prstGeom>
          <a:solidFill>
            <a:srgbClr val="241E4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7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Системный промпт</a:t>
            </a:r>
            <a:pPr indent="0" marL="0"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постоянная инструкция «кто ты». Действует на весь разговор, а не на один вопрос.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3154680"/>
            <a:ext cx="11000232" cy="1417320"/>
          </a:xfrm>
          <a:prstGeom prst="roundRect">
            <a:avLst>
              <a:gd name="adj" fmla="val 7742"/>
            </a:avLst>
          </a:prstGeom>
          <a:solidFill>
            <a:srgbClr val="0E0B2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= "Ты — пират. Отвечай как морской волк."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Вопрос: «Что такое переменная?»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«Арр! Переменная, юнга, — это сундук, куда прячешь число…»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4754880"/>
            <a:ext cx="1100023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Меняешь одну строку — меняется вся личность бота при том же вопросе.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КЕЙС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Классификация отзывов по тональности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241280" y="638251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11000232" cy="914400"/>
          </a:xfrm>
          <a:prstGeom prst="roundRect">
            <a:avLst>
              <a:gd name="adj" fmla="val 12000"/>
            </a:avLst>
          </a:prstGeom>
          <a:solidFill>
            <a:srgbClr val="241E4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«Отличный сервис!» → позитив  </a:t>
            </a:r>
            <a:pPr indent="0" marL="0">
              <a:buNone/>
            </a:pPr>
            <a:r>
              <a:rPr lang="en-US" sz="18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pPr indent="0" marL="0"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«Ужасно, долго» → негатив  </a:t>
            </a:r>
            <a:pPr indent="0" marL="0">
              <a:buNone/>
            </a:pPr>
            <a:r>
              <a:rPr lang="en-US" sz="18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063240"/>
            <a:ext cx="11000232" cy="2148840"/>
          </a:xfrm>
          <a:prstGeom prst="roundRect">
            <a:avLst>
              <a:gd name="adj" fmla="val 5106"/>
            </a:avLst>
          </a:prstGeom>
          <a:solidFill>
            <a:srgbClr val="2C2552"/>
          </a:solidFill>
          <a:ln w="15875">
            <a:solidFill>
              <a:srgbClr val="FF7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2461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Ловушка: сарказм и отрицание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947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«Ну очень „порадовал“ этот сервис…»  → словарь скажет </a:t>
            </a:r>
            <a:pPr indent="0" marL="0">
              <a:buNone/>
            </a:pPr>
            <a:r>
              <a:rPr lang="en-US" sz="16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позитив ✗</a:t>
            </a:r>
            <a:pPr indent="0" marL="0">
              <a:buNone/>
            </a:pPr>
            <a:r>
              <a:rPr lang="en-US" sz="16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(а это негатив)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42976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плохо»  → словарь скажет </a:t>
            </a:r>
            <a:pPr indent="0" marL="0">
              <a:buNone/>
            </a:pPr>
            <a:r>
              <a:rPr lang="en-US" sz="16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негатив ✗</a:t>
            </a:r>
            <a:pPr indent="0" marL="0">
              <a:buNone/>
            </a:pPr>
            <a:r>
              <a:rPr lang="en-US" sz="16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(а это скорее позитив)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ответ модели всегда проверяем — она уверенно ошибается и бывает предвзятой.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· ФИНАЛ ФАЗЫ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унесём с урока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241280" y="638251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241E4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+ примеры + формат = хороший промпт</a:t>
            </a:r>
            <a:endParaRPr lang="en-US" sz="16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решает реальные задачи (тональность)</a:t>
            </a:r>
            <a:endParaRPr lang="en-US" sz="16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бот задаётся системным промптом</a:t>
            </a:r>
            <a:endParaRPr lang="en-US" sz="16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модели всегда проверяем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241E42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Домашка + конкурс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Классифицировать 10 отзывов, найти 2 ошибки</a:t>
            </a:r>
            <a:endParaRPr lang="en-US" sz="16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Написать промпт с ролью и примерами</a:t>
            </a:r>
            <a:endParaRPr lang="en-US" sz="16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Сделать бота с характером</a:t>
            </a:r>
            <a:endParaRPr lang="en-US" sz="16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Конкурс: точнее классификатор / интереснее бот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5166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Фаза 5: AutoML и готовые ИИ-инструменты.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2026-08-08T04:03:38Z</dcterms:created>
  <dcterms:modified xsi:type="dcterms:W3CDTF">2026-08-08T04:03:38Z</dcterms:modified>
</cp:coreProperties>
</file>