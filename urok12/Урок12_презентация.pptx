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1463040"/>
            <a:ext cx="2286000" cy="566928"/>
          </a:xfrm>
          <a:prstGeom prst="roundRect">
            <a:avLst>
              <a:gd name="adj" fmla="val 12903"/>
            </a:avLst>
          </a:prstGeom>
          <a:solidFill>
            <a:srgbClr val="5B4FC4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2148840"/>
            <a:ext cx="2286000" cy="566928"/>
          </a:xfrm>
          <a:prstGeom prst="roundRect">
            <a:avLst>
              <a:gd name="adj" fmla="val 12903"/>
            </a:avLst>
          </a:prstGeom>
          <a:solidFill>
            <a:srgbClr val="8B7DF5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0" y="2834640"/>
            <a:ext cx="2286000" cy="566928"/>
          </a:xfrm>
          <a:prstGeom prst="roundRect">
            <a:avLst>
              <a:gd name="adj" fmla="val 12903"/>
            </a:avLst>
          </a:prstGeom>
          <a:solidFill>
            <a:srgbClr val="27D3EE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ФАЗА 2 · НЕДЕЛЯ 6 · ОЦЕНИВАЕТСЯ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201168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Мини-проект</a:t>
            </a:r>
            <a:endParaRPr lang="en-US" sz="46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«Предсказатель»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94360" y="3886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Твой полный ML-проект за один урок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94360" y="4754880"/>
            <a:ext cx="7863840" cy="685800"/>
          </a:xfrm>
          <a:prstGeom prst="roundRect">
            <a:avLst>
              <a:gd name="adj" fmla="val 13333"/>
            </a:avLst>
          </a:prstGeom>
          <a:solidFill>
            <a:srgbClr val="2C2552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75488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Обязательно: baseline · Pipeline · честная метрика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НУЖНО СДЕЛАТЬ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шагов проекта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2011680"/>
            <a:ext cx="3423818" cy="1600200"/>
          </a:xfrm>
          <a:prstGeom prst="roundRect">
            <a:avLst>
              <a:gd name="adj" fmla="val 6857"/>
            </a:avLst>
          </a:prstGeom>
          <a:solidFill>
            <a:srgbClr val="241E42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286000"/>
            <a:ext cx="594360" cy="594360"/>
          </a:xfrm>
          <a:prstGeom prst="ellipse">
            <a:avLst/>
          </a:prstGeom>
          <a:solidFill>
            <a:srgbClr val="5B4FC4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860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00200" y="2331720"/>
            <a:ext cx="232653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2971800"/>
            <a:ext cx="287517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предсказываем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3938" y="2011680"/>
            <a:ext cx="3423818" cy="1600200"/>
          </a:xfrm>
          <a:prstGeom prst="roundRect">
            <a:avLst>
              <a:gd name="adj" fmla="val 6857"/>
            </a:avLst>
          </a:prstGeom>
          <a:solidFill>
            <a:srgbClr val="241E42"/>
          </a:solidFill>
          <a:ln/>
        </p:spPr>
      </p:sp>
      <p:sp>
        <p:nvSpPr>
          <p:cNvPr id="10" name="Shape 8"/>
          <p:cNvSpPr/>
          <p:nvPr/>
        </p:nvSpPr>
        <p:spPr>
          <a:xfrm>
            <a:off x="4658258" y="2286000"/>
            <a:ext cx="594360" cy="594360"/>
          </a:xfrm>
          <a:prstGeom prst="ellipse">
            <a:avLst/>
          </a:prstGeom>
          <a:solidFill>
            <a:srgbClr val="5B4FC4"/>
          </a:solidFill>
          <a:ln/>
        </p:spPr>
      </p:sp>
      <p:sp>
        <p:nvSpPr>
          <p:cNvPr id="11" name="Text 9"/>
          <p:cNvSpPr/>
          <p:nvPr/>
        </p:nvSpPr>
        <p:spPr>
          <a:xfrm>
            <a:off x="4658258" y="22860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389778" y="2331720"/>
            <a:ext cx="232653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658258" y="2971800"/>
            <a:ext cx="287517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загрузка и обзор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73517" y="2011680"/>
            <a:ext cx="3423818" cy="1600200"/>
          </a:xfrm>
          <a:prstGeom prst="roundRect">
            <a:avLst>
              <a:gd name="adj" fmla="val 6857"/>
            </a:avLst>
          </a:prstGeom>
          <a:solidFill>
            <a:srgbClr val="241E42"/>
          </a:solidFill>
          <a:ln/>
        </p:spPr>
      </p:sp>
      <p:sp>
        <p:nvSpPr>
          <p:cNvPr id="15" name="Shape 13"/>
          <p:cNvSpPr/>
          <p:nvPr/>
        </p:nvSpPr>
        <p:spPr>
          <a:xfrm>
            <a:off x="8447837" y="2286000"/>
            <a:ext cx="594360" cy="594360"/>
          </a:xfrm>
          <a:prstGeom prst="ellipse">
            <a:avLst/>
          </a:prstGeom>
          <a:solidFill>
            <a:srgbClr val="5B4FC4"/>
          </a:solidFill>
          <a:ln/>
        </p:spPr>
      </p:sp>
      <p:sp>
        <p:nvSpPr>
          <p:cNvPr id="16" name="Text 14"/>
          <p:cNvSpPr/>
          <p:nvPr/>
        </p:nvSpPr>
        <p:spPr>
          <a:xfrm>
            <a:off x="8447837" y="22860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179357" y="2331720"/>
            <a:ext cx="232653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447837" y="2971800"/>
            <a:ext cx="287517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простая модель для сравнения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4360" y="3931920"/>
            <a:ext cx="3423818" cy="1600200"/>
          </a:xfrm>
          <a:prstGeom prst="roundRect">
            <a:avLst>
              <a:gd name="adj" fmla="val 6857"/>
            </a:avLst>
          </a:prstGeom>
          <a:solidFill>
            <a:srgbClr val="241E42"/>
          </a:solidFill>
          <a:ln/>
        </p:spPr>
      </p:sp>
      <p:sp>
        <p:nvSpPr>
          <p:cNvPr id="20" name="Shape 18"/>
          <p:cNvSpPr/>
          <p:nvPr/>
        </p:nvSpPr>
        <p:spPr>
          <a:xfrm>
            <a:off x="868680" y="4206240"/>
            <a:ext cx="594360" cy="594360"/>
          </a:xfrm>
          <a:prstGeom prst="ellipse">
            <a:avLst/>
          </a:prstGeom>
          <a:solidFill>
            <a:srgbClr val="5B4FC4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2062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600200" y="4251960"/>
            <a:ext cx="232653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868680" y="4892040"/>
            <a:ext cx="287517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подготовка + модель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383938" y="3931920"/>
            <a:ext cx="3423818" cy="1600200"/>
          </a:xfrm>
          <a:prstGeom prst="roundRect">
            <a:avLst>
              <a:gd name="adj" fmla="val 6857"/>
            </a:avLst>
          </a:prstGeom>
          <a:solidFill>
            <a:srgbClr val="241E42"/>
          </a:solidFill>
          <a:ln/>
        </p:spPr>
      </p:sp>
      <p:sp>
        <p:nvSpPr>
          <p:cNvPr id="25" name="Shape 23"/>
          <p:cNvSpPr/>
          <p:nvPr/>
        </p:nvSpPr>
        <p:spPr>
          <a:xfrm>
            <a:off x="4658258" y="4206240"/>
            <a:ext cx="594360" cy="594360"/>
          </a:xfrm>
          <a:prstGeom prst="ellipse">
            <a:avLst/>
          </a:prstGeom>
          <a:solidFill>
            <a:srgbClr val="5B4FC4"/>
          </a:solidFill>
          <a:ln/>
        </p:spPr>
      </p:sp>
      <p:sp>
        <p:nvSpPr>
          <p:cNvPr id="26" name="Text 24"/>
          <p:cNvSpPr/>
          <p:nvPr/>
        </p:nvSpPr>
        <p:spPr>
          <a:xfrm>
            <a:off x="4658258" y="42062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389778" y="4251960"/>
            <a:ext cx="232653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4658258" y="4892040"/>
            <a:ext cx="287517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метрика + сравнение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173517" y="3931920"/>
            <a:ext cx="3423818" cy="1600200"/>
          </a:xfrm>
          <a:prstGeom prst="roundRect">
            <a:avLst>
              <a:gd name="adj" fmla="val 6857"/>
            </a:avLst>
          </a:prstGeom>
          <a:solidFill>
            <a:srgbClr val="241E42"/>
          </a:solidFill>
          <a:ln/>
        </p:spPr>
      </p:sp>
      <p:sp>
        <p:nvSpPr>
          <p:cNvPr id="30" name="Shape 28"/>
          <p:cNvSpPr/>
          <p:nvPr/>
        </p:nvSpPr>
        <p:spPr>
          <a:xfrm>
            <a:off x="8447837" y="4206240"/>
            <a:ext cx="594360" cy="594360"/>
          </a:xfrm>
          <a:prstGeom prst="ellipse">
            <a:avLst/>
          </a:prstGeom>
          <a:solidFill>
            <a:srgbClr val="5B4FC4"/>
          </a:solidFill>
          <a:ln/>
        </p:spPr>
      </p:sp>
      <p:sp>
        <p:nvSpPr>
          <p:cNvPr id="31" name="Text 29"/>
          <p:cNvSpPr/>
          <p:nvPr/>
        </p:nvSpPr>
        <p:spPr>
          <a:xfrm>
            <a:off x="8447837" y="42062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9179357" y="4251960"/>
            <a:ext cx="232653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8447837" y="4892040"/>
            <a:ext cx="287517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получилось, словами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СТАНДАРТ КУРСА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обязательных элемента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2194560"/>
            <a:ext cx="3362858" cy="3291840"/>
          </a:xfrm>
          <a:prstGeom prst="roundRect">
            <a:avLst>
              <a:gd name="adj" fmla="val 3333"/>
            </a:avLst>
          </a:prstGeom>
          <a:solidFill>
            <a:srgbClr val="241E42"/>
          </a:solidFill>
          <a:ln/>
        </p:spPr>
      </p:sp>
      <p:sp>
        <p:nvSpPr>
          <p:cNvPr id="5" name="Shape 3"/>
          <p:cNvSpPr/>
          <p:nvPr/>
        </p:nvSpPr>
        <p:spPr>
          <a:xfrm>
            <a:off x="1864309" y="2514600"/>
            <a:ext cx="822960" cy="822960"/>
          </a:xfrm>
          <a:prstGeom prst="ellipse">
            <a:avLst/>
          </a:prstGeom>
          <a:solidFill>
            <a:srgbClr val="5B4FC4"/>
          </a:solidFill>
          <a:ln/>
        </p:spPr>
      </p:sp>
      <p:sp>
        <p:nvSpPr>
          <p:cNvPr id="6" name="Text 4"/>
          <p:cNvSpPr/>
          <p:nvPr/>
        </p:nvSpPr>
        <p:spPr>
          <a:xfrm>
            <a:off x="1864309" y="25146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3566160"/>
            <a:ext cx="299709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4206240"/>
            <a:ext cx="281421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Простая модель, которую надо обыграть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414418" y="2194560"/>
            <a:ext cx="3362858" cy="3291840"/>
          </a:xfrm>
          <a:prstGeom prst="roundRect">
            <a:avLst>
              <a:gd name="adj" fmla="val 3333"/>
            </a:avLst>
          </a:prstGeom>
          <a:solidFill>
            <a:srgbClr val="2C2552"/>
          </a:solidFill>
          <a:ln/>
        </p:spPr>
      </p:sp>
      <p:sp>
        <p:nvSpPr>
          <p:cNvPr id="10" name="Shape 8"/>
          <p:cNvSpPr/>
          <p:nvPr/>
        </p:nvSpPr>
        <p:spPr>
          <a:xfrm>
            <a:off x="5684368" y="2514600"/>
            <a:ext cx="822960" cy="822960"/>
          </a:xfrm>
          <a:prstGeom prst="ellipse">
            <a:avLst/>
          </a:prstGeom>
          <a:solidFill>
            <a:srgbClr val="27D3EE"/>
          </a:solidFill>
          <a:ln/>
        </p:spPr>
      </p:sp>
      <p:sp>
        <p:nvSpPr>
          <p:cNvPr id="11" name="Text 9"/>
          <p:cNvSpPr/>
          <p:nvPr/>
        </p:nvSpPr>
        <p:spPr>
          <a:xfrm>
            <a:off x="5684368" y="25146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97298" y="3566160"/>
            <a:ext cx="299709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88738" y="4206240"/>
            <a:ext cx="281421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Вся подготовка + модель в одном объекте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34477" y="2194560"/>
            <a:ext cx="3362858" cy="3291840"/>
          </a:xfrm>
          <a:prstGeom prst="roundRect">
            <a:avLst>
              <a:gd name="adj" fmla="val 3333"/>
            </a:avLst>
          </a:prstGeom>
          <a:solidFill>
            <a:srgbClr val="241E42"/>
          </a:solidFill>
          <a:ln/>
        </p:spPr>
      </p:sp>
      <p:sp>
        <p:nvSpPr>
          <p:cNvPr id="15" name="Shape 13"/>
          <p:cNvSpPr/>
          <p:nvPr/>
        </p:nvSpPr>
        <p:spPr>
          <a:xfrm>
            <a:off x="9504426" y="2514600"/>
            <a:ext cx="822960" cy="822960"/>
          </a:xfrm>
          <a:prstGeom prst="ellipse">
            <a:avLst/>
          </a:prstGeom>
          <a:solidFill>
            <a:srgbClr val="8B7DF5"/>
          </a:solidFill>
          <a:ln/>
        </p:spPr>
      </p:sp>
      <p:sp>
        <p:nvSpPr>
          <p:cNvPr id="16" name="Text 14"/>
          <p:cNvSpPr/>
          <p:nvPr/>
        </p:nvSpPr>
        <p:spPr>
          <a:xfrm>
            <a:off x="9504426" y="25146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417357" y="3566160"/>
            <a:ext cx="299709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Метрика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508797" y="4206240"/>
            <a:ext cx="281421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Честная и подходящая задаче (урок 11)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ФОРМАТ ДЕМОНСТРАЦИИ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Расскажи за 2–3 минуты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68680" y="2468880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5B4FC4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46888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337560" y="2468880"/>
            <a:ext cx="320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0" y="2468880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5B4FC4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0" y="246888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126480" y="2468880"/>
            <a:ext cx="320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6446520" y="2468880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5B4FC4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46888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915400" y="2468880"/>
            <a:ext cx="320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9235440" y="2468880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27D3EE"/>
          </a:solidFill>
          <a:ln/>
        </p:spPr>
      </p:sp>
      <p:sp>
        <p:nvSpPr>
          <p:cNvPr id="14" name="Text 12"/>
          <p:cNvSpPr/>
          <p:nvPr/>
        </p:nvSpPr>
        <p:spPr>
          <a:xfrm>
            <a:off x="9235440" y="246888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94360" y="4297680"/>
            <a:ext cx="1100297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Говори так, чтобы понял даже тот, кто не знает ML. Результат — обязательно в сравнении с baseline.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12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ОЦЕНИВАЕТСЯ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Рубрика · 10 баллов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2103120"/>
            <a:ext cx="11002975" cy="868680"/>
          </a:xfrm>
          <a:prstGeom prst="roundRect">
            <a:avLst>
              <a:gd name="adj" fmla="val 12632"/>
            </a:avLst>
          </a:prstGeom>
          <a:solidFill>
            <a:srgbClr val="2C255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30428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Постановка задачи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134295" y="230428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94360" y="3108960"/>
            <a:ext cx="11002975" cy="868680"/>
          </a:xfrm>
          <a:prstGeom prst="roundRect">
            <a:avLst>
              <a:gd name="adj" fmla="val 12632"/>
            </a:avLst>
          </a:prstGeom>
          <a:solidFill>
            <a:srgbClr val="241E42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33101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Использование ML (Pipeline + baseline)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0134295" y="331012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94360" y="4114800"/>
            <a:ext cx="11002975" cy="868680"/>
          </a:xfrm>
          <a:prstGeom prst="roundRect">
            <a:avLst>
              <a:gd name="adj" fmla="val 12632"/>
            </a:avLst>
          </a:prstGeom>
          <a:solidFill>
            <a:srgbClr val="2C2552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43159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Визуализация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0134295" y="431596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94360" y="5120640"/>
            <a:ext cx="11002975" cy="868680"/>
          </a:xfrm>
          <a:prstGeom prst="roundRect">
            <a:avLst>
              <a:gd name="adj" fmla="val 12632"/>
            </a:avLst>
          </a:prstGeom>
          <a:solidFill>
            <a:srgbClr val="241E42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53218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Интерпретация результата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0134295" y="532180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94360" y="6217920"/>
            <a:ext cx="110029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9–10 отлично · 7–8 хорошо · 5–6 зачёт · менее 5 — доработать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12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· НАСТРОЙ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Хороший проект — честный, а не сложный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2011680"/>
            <a:ext cx="11002975" cy="1554480"/>
          </a:xfrm>
          <a:prstGeom prst="roundRect">
            <a:avLst>
              <a:gd name="adj" fmla="val 7059"/>
            </a:avLst>
          </a:prstGeom>
          <a:solidFill>
            <a:srgbClr val="2C255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240280"/>
            <a:ext cx="1027145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гонись за сложностью. Понятная задача + baseline + правильная метрика — этого достаточно на отлично.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94360" y="3749040"/>
            <a:ext cx="5577840" cy="2103120"/>
          </a:xfrm>
          <a:prstGeom prst="roundRect">
            <a:avLst>
              <a:gd name="adj" fmla="val 5217"/>
            </a:avLst>
          </a:prstGeom>
          <a:solidFill>
            <a:srgbClr val="241E42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3931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Тайминг урока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443484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Питч (10) → работа по шаблону (50) → показ классу (15) → обратная связь (5)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46520" y="3749040"/>
            <a:ext cx="5150815" cy="2103120"/>
          </a:xfrm>
          <a:prstGeom prst="roundRect">
            <a:avLst>
              <a:gd name="adj" fmla="val 5217"/>
            </a:avLst>
          </a:prstGeom>
          <a:solidFill>
            <a:srgbClr val="2C2552"/>
          </a:solidFill>
          <a:ln/>
        </p:spPr>
      </p:sp>
      <p:sp>
        <p:nvSpPr>
          <p:cNvPr id="10" name="Text 8"/>
          <p:cNvSpPr/>
          <p:nvPr/>
        </p:nvSpPr>
        <p:spPr>
          <a:xfrm>
            <a:off x="6812280" y="3931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Домашнее задание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812280" y="4434840"/>
            <a:ext cx="45107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Доделать ноутбук (6 разделов) и 3 слайда. Дальше — Фаза 3: нейросети!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2026-07-06T16:29:37Z</dcterms:created>
  <dcterms:modified xsi:type="dcterms:W3CDTF">2026-07-06T16:29:37Z</dcterms:modified>
</cp:coreProperties>
</file>