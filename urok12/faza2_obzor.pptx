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5943600" cy="594360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0C2CB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C2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 · КЛАССИЧЕСКИЙ ML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прошли: уроки 5–12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первого алгоритма — к честной модели, которую не стыдно показать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581580" cy="1874520"/>
          </a:xfrm>
          <a:prstGeom prst="roundRect">
            <a:avLst>
              <a:gd name="adj" fmla="val 5854"/>
            </a:avLst>
          </a:prstGeom>
          <a:solidFill>
            <a:srgbClr val="1E1E42"/>
          </a:solidFill>
          <a:ln w="9525">
            <a:solidFill>
              <a:srgbClr val="8B7C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1671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52980" y="2130552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2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49808" y="2834640"/>
            <a:ext cx="21792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49808" y="320954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«Скажи, кто твой сосед» — первый классификатор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6252" y="1965960"/>
            <a:ext cx="2581580" cy="1874520"/>
          </a:xfrm>
          <a:prstGeom prst="roundRect">
            <a:avLst>
              <a:gd name="adj" fmla="val 5854"/>
            </a:avLst>
          </a:prstGeom>
          <a:solidFill>
            <a:srgbClr val="1E1E42"/>
          </a:solidFill>
          <a:ln w="9525">
            <a:solidFill>
              <a:srgbClr val="8B7C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87420" y="21671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292" y="22860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90592" y="2130552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2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3587420" y="2834640"/>
            <a:ext cx="21792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Честная проверка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3587420" y="320954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train/test, baseline, утечка данных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23864" y="1965960"/>
            <a:ext cx="2581580" cy="1874520"/>
          </a:xfrm>
          <a:prstGeom prst="roundRect">
            <a:avLst>
              <a:gd name="adj" fmla="val 5854"/>
            </a:avLst>
          </a:prstGeom>
          <a:solidFill>
            <a:srgbClr val="1E1E42"/>
          </a:solidFill>
          <a:ln w="9525">
            <a:solidFill>
              <a:srgbClr val="8B7C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25032" y="21671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904" y="2286000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28203" y="2130552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2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6425032" y="2834640"/>
            <a:ext cx="21792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Деревья решений</a:t>
            </a:r>
            <a:endParaRPr lang="en-US" sz="1650" dirty="0"/>
          </a:p>
        </p:txBody>
      </p:sp>
      <p:sp>
        <p:nvSpPr>
          <p:cNvPr id="24" name="Text 19"/>
          <p:cNvSpPr/>
          <p:nvPr/>
        </p:nvSpPr>
        <p:spPr>
          <a:xfrm>
            <a:off x="6425032" y="320954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«20 вопросов» и переобучение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61475" y="1965960"/>
            <a:ext cx="2581580" cy="1874520"/>
          </a:xfrm>
          <a:prstGeom prst="roundRect">
            <a:avLst>
              <a:gd name="adj" fmla="val 5854"/>
            </a:avLst>
          </a:prstGeom>
          <a:solidFill>
            <a:srgbClr val="1E1E42"/>
          </a:solidFill>
          <a:ln w="9525">
            <a:solidFill>
              <a:srgbClr val="8B7C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62643" y="21671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515" y="2286000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865815" y="2130552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2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9262643" y="2834640"/>
            <a:ext cx="21792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Регрессия</a:t>
            </a:r>
            <a:endParaRPr lang="en-US" sz="1650" dirty="0"/>
          </a:p>
        </p:txBody>
      </p:sp>
      <p:sp>
        <p:nvSpPr>
          <p:cNvPr id="30" name="Text 24"/>
          <p:cNvSpPr/>
          <p:nvPr/>
        </p:nvSpPr>
        <p:spPr>
          <a:xfrm>
            <a:off x="9262643" y="320954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Предсказываем число: MAE, R²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48640" y="4114800"/>
            <a:ext cx="2581580" cy="1874520"/>
          </a:xfrm>
          <a:prstGeom prst="roundRect">
            <a:avLst>
              <a:gd name="adj" fmla="val 5854"/>
            </a:avLst>
          </a:prstGeom>
          <a:solidFill>
            <a:srgbClr val="1E1E42"/>
          </a:solidFill>
          <a:ln w="9525">
            <a:solidFill>
              <a:srgbClr val="8B7C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49808" y="43159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34840"/>
            <a:ext cx="329184" cy="32918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352980" y="4279392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2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35" name="Text 28"/>
          <p:cNvSpPr/>
          <p:nvPr/>
        </p:nvSpPr>
        <p:spPr>
          <a:xfrm>
            <a:off x="749808" y="4983480"/>
            <a:ext cx="21792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Случайный лес</a:t>
            </a:r>
            <a:endParaRPr lang="en-US" sz="1650" dirty="0"/>
          </a:p>
        </p:txBody>
      </p:sp>
      <p:sp>
        <p:nvSpPr>
          <p:cNvPr id="36" name="Text 29"/>
          <p:cNvSpPr/>
          <p:nvPr/>
        </p:nvSpPr>
        <p:spPr>
          <a:xfrm>
            <a:off x="749808" y="535838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Сила ансамбля — голосование деревьев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3386252" y="4114800"/>
            <a:ext cx="2581580" cy="1874520"/>
          </a:xfrm>
          <a:prstGeom prst="roundRect">
            <a:avLst>
              <a:gd name="adj" fmla="val 5854"/>
            </a:avLst>
          </a:prstGeom>
          <a:solidFill>
            <a:srgbClr val="1E1E42"/>
          </a:solidFill>
          <a:ln w="9525">
            <a:solidFill>
              <a:srgbClr val="8B7C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3587420" y="43159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6292" y="4434840"/>
            <a:ext cx="329184" cy="3291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190592" y="4279392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2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41" name="Text 33"/>
          <p:cNvSpPr/>
          <p:nvPr/>
        </p:nvSpPr>
        <p:spPr>
          <a:xfrm>
            <a:off x="3587420" y="4983480"/>
            <a:ext cx="21792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+ CV</a:t>
            </a:r>
            <a:endParaRPr lang="en-US" sz="1650" dirty="0"/>
          </a:p>
        </p:txBody>
      </p:sp>
      <p:sp>
        <p:nvSpPr>
          <p:cNvPr id="42" name="Text 34"/>
          <p:cNvSpPr/>
          <p:nvPr/>
        </p:nvSpPr>
        <p:spPr>
          <a:xfrm>
            <a:off x="3587420" y="535838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курса, защита от утечки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223864" y="4114800"/>
            <a:ext cx="2581580" cy="1874520"/>
          </a:xfrm>
          <a:prstGeom prst="roundRect">
            <a:avLst>
              <a:gd name="adj" fmla="val 5854"/>
            </a:avLst>
          </a:prstGeom>
          <a:solidFill>
            <a:srgbClr val="1E1E42"/>
          </a:solidFill>
          <a:ln w="9525">
            <a:solidFill>
              <a:srgbClr val="8B7C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425032" y="43159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904" y="4434840"/>
            <a:ext cx="329184" cy="3291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028203" y="4279392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2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000" dirty="0"/>
          </a:p>
        </p:txBody>
      </p:sp>
      <p:sp>
        <p:nvSpPr>
          <p:cNvPr id="47" name="Text 38"/>
          <p:cNvSpPr/>
          <p:nvPr/>
        </p:nvSpPr>
        <p:spPr>
          <a:xfrm>
            <a:off x="6425032" y="4983480"/>
            <a:ext cx="21792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</a:t>
            </a:r>
            <a:endParaRPr lang="en-US" sz="1650" dirty="0"/>
          </a:p>
        </p:txBody>
      </p:sp>
      <p:sp>
        <p:nvSpPr>
          <p:cNvPr id="48" name="Text 39"/>
          <p:cNvSpPr/>
          <p:nvPr/>
        </p:nvSpPr>
        <p:spPr>
          <a:xfrm>
            <a:off x="6425032" y="535838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врёт: precision, recall, F1</a:t>
            </a:r>
            <a:endParaRPr lang="en-US" sz="1100" dirty="0"/>
          </a:p>
        </p:txBody>
      </p:sp>
      <p:sp>
        <p:nvSpPr>
          <p:cNvPr id="49" name="Shape 40"/>
          <p:cNvSpPr/>
          <p:nvPr/>
        </p:nvSpPr>
        <p:spPr>
          <a:xfrm>
            <a:off x="9061475" y="4114800"/>
            <a:ext cx="2581580" cy="1874520"/>
          </a:xfrm>
          <a:prstGeom prst="roundRect">
            <a:avLst>
              <a:gd name="adj" fmla="val 5854"/>
            </a:avLst>
          </a:prstGeom>
          <a:solidFill>
            <a:srgbClr val="1E1E42"/>
          </a:solidFill>
          <a:ln w="9525">
            <a:solidFill>
              <a:srgbClr val="8B7C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9262643" y="431596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5CE7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81515" y="4434840"/>
            <a:ext cx="329184" cy="329184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10865815" y="4279392"/>
            <a:ext cx="621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2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53" name="Text 43"/>
          <p:cNvSpPr/>
          <p:nvPr/>
        </p:nvSpPr>
        <p:spPr>
          <a:xfrm>
            <a:off x="9262643" y="4983480"/>
            <a:ext cx="21792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EDED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Мини-проект</a:t>
            </a:r>
            <a:endParaRPr lang="en-US" sz="1650" dirty="0"/>
          </a:p>
        </p:txBody>
      </p:sp>
      <p:sp>
        <p:nvSpPr>
          <p:cNvPr id="54" name="Text 44"/>
          <p:cNvSpPr/>
          <p:nvPr/>
        </p:nvSpPr>
        <p:spPr>
          <a:xfrm>
            <a:off x="9262643" y="5358384"/>
            <a:ext cx="22158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A9A9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«Предсказатель» — собираем всё вместе</a:t>
            </a:r>
            <a:endParaRPr lang="en-US" sz="1100" dirty="0"/>
          </a:p>
        </p:txBody>
      </p:sp>
      <p:sp>
        <p:nvSpPr>
          <p:cNvPr id="55" name="Shape 45"/>
          <p:cNvSpPr/>
          <p:nvPr/>
        </p:nvSpPr>
        <p:spPr>
          <a:xfrm>
            <a:off x="548640" y="6153912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6C5CE7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6291072"/>
            <a:ext cx="292608" cy="29260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1170432" y="6153912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фазы: не «самая точная модель», а честная — с baseline, без утечки, через Pipeline и с правильной метрикой.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2026-07-25T04:51:05Z</dcterms:created>
  <dcterms:modified xsi:type="dcterms:W3CDTF">2026-07-25T04:51:05Z</dcterms:modified>
</cp:coreProperties>
</file>