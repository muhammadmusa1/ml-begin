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3 · НЕДЕЛЯ 8 · ПРОЕКТ · ЛИЧНЫЕ ДАННЫЕ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Классификатор моих фото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49808" y="3200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Твой ИИ-сайт за один урок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9808" y="4297680"/>
            <a:ext cx="7223760" cy="914400"/>
          </a:xfrm>
          <a:prstGeom prst="roundRect">
            <a:avLst>
              <a:gd name="adj" fmla="val 9000"/>
            </a:avLst>
          </a:prstGeom>
          <a:solidFill>
            <a:srgbClr val="241E4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26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429768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Ссылку на свой классификатор можно отправить родителям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49808" y="5852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16 · 90 минут · свои данные → аугментация → transfer learning → Gradio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194560"/>
            <a:ext cx="1828800" cy="18288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42062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ВОВЛЕЧЕНИЕ · 0–10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Что, если телефон научится узнавать именно ТВОИ вещи?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6675120" cy="3291840"/>
          </a:xfrm>
          <a:prstGeom prst="roundRect">
            <a:avLst>
              <a:gd name="adj" fmla="val 2500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0200" y="2057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Представь приложение, которое: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005840" y="288036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отличает ТВОИ кроссовки от кроссовок брата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говорит, спелый банан или ещё зелёный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сортирует твои карточки / монеты / модельки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7543800" y="1783080"/>
            <a:ext cx="3977640" cy="3291840"/>
          </a:xfrm>
          <a:prstGeom prst="roundRect">
            <a:avLst>
              <a:gd name="adj" fmla="val 2500"/>
            </a:avLst>
          </a:prstGeom>
          <a:solidFill>
            <a:srgbClr val="241E4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01168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818120" y="269748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80 минут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 тебя будет работающий сайт, который это умеет — и ссылку можно скинуть маме прямо на уроке.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640080" y="530352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86400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3040" y="530352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 класс:  </a:t>
            </a:r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«Что бы вы научили ИИ различать? Свои вещи? Питомцев? Что-то ещё?»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686800" y="6419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16 · Классификатор моих фото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МНЕ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живут такие классификаторы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28800"/>
            <a:ext cx="2578608" cy="3200400"/>
          </a:xfrm>
          <a:prstGeom prst="roundRect">
            <a:avLst>
              <a:gd name="adj" fmla="val 3191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288036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Медицина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914400" y="338328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родинки → опасна или нет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474720" y="1828800"/>
            <a:ext cx="2578608" cy="3200400"/>
          </a:xfrm>
          <a:prstGeom prst="roundRect">
            <a:avLst>
              <a:gd name="adj" fmla="val 3191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14884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49040" y="288036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Экология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3749040" y="338328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листа → здоров или болен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309360" y="1828800"/>
            <a:ext cx="2578608" cy="3200400"/>
          </a:xfrm>
          <a:prstGeom prst="roundRect">
            <a:avLst>
              <a:gd name="adj" fmla="val 3191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4884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83680" y="288036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Переработка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6583680" y="338328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мусор → пластик / стекло / бумага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144000" y="1828800"/>
            <a:ext cx="2578608" cy="3200400"/>
          </a:xfrm>
          <a:prstGeom prst="roundRect">
            <a:avLst>
              <a:gd name="adj" fmla="val 3191"/>
            </a:avLst>
          </a:prstGeom>
          <a:solidFill>
            <a:srgbClr val="241E4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2148840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418320" y="288036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Твой проект</a:t>
            </a:r>
            <a:endParaRPr lang="en-US" sz="1900" dirty="0"/>
          </a:p>
        </p:txBody>
      </p:sp>
      <p:sp>
        <p:nvSpPr>
          <p:cNvPr id="20" name="Text 13"/>
          <p:cNvSpPr/>
          <p:nvPr/>
        </p:nvSpPr>
        <p:spPr>
          <a:xfrm>
            <a:off x="9418320" y="338328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твои кроссовки, карточки, котики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440680"/>
            <a:ext cx="411480" cy="4114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463040" y="525780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Отличается только датасет.</a:t>
            </a:r>
            <a:pPr indent="0" marL="0"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Технология внутри — ровно та, что ты соберёшь сегодня своими руками.</a:t>
            </a:r>
            <a:endParaRPr lang="en-US" sz="1700" dirty="0"/>
          </a:p>
        </p:txBody>
      </p:sp>
      <p:sp>
        <p:nvSpPr>
          <p:cNvPr id="24" name="Text 16"/>
          <p:cNvSpPr/>
          <p:nvPr/>
        </p:nvSpPr>
        <p:spPr>
          <a:xfrm>
            <a:off x="8686800" y="6419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16 · Классификатор моих фото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СДЕЛАЕМ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шага проекта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6596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2258568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97180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фото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14400" y="3657600"/>
            <a:ext cx="19385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категории,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15–20 штук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145536" y="3374136"/>
            <a:ext cx="283464" cy="292608"/>
          </a:xfrm>
          <a:prstGeom prst="rightArrow">
            <a:avLst/>
          </a:prstGeom>
          <a:solidFill>
            <a:srgbClr val="5B4FC4"/>
          </a:solidFill>
          <a:ln/>
        </p:spPr>
      </p:sp>
      <p:sp>
        <p:nvSpPr>
          <p:cNvPr id="12" name="Shape 8"/>
          <p:cNvSpPr/>
          <p:nvPr/>
        </p:nvSpPr>
        <p:spPr>
          <a:xfrm>
            <a:off x="3447288" y="196596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721608" y="2240280"/>
            <a:ext cx="502920" cy="502920"/>
          </a:xfrm>
          <a:prstGeom prst="ellipse">
            <a:avLst/>
          </a:prstGeom>
          <a:solidFill>
            <a:srgbClr val="8B7DF5"/>
          </a:solidFill>
          <a:ln/>
        </p:spPr>
      </p:sp>
      <p:sp>
        <p:nvSpPr>
          <p:cNvPr id="14" name="Text 10"/>
          <p:cNvSpPr/>
          <p:nvPr/>
        </p:nvSpPr>
        <p:spPr>
          <a:xfrm>
            <a:off x="3721608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225856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21608" y="297180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Аугментация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3721608" y="3657600"/>
            <a:ext cx="19385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1 фото —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примеров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952744" y="3374136"/>
            <a:ext cx="283464" cy="292608"/>
          </a:xfrm>
          <a:prstGeom prst="rightArrow">
            <a:avLst/>
          </a:prstGeom>
          <a:solidFill>
            <a:srgbClr val="5B4FC4"/>
          </a:solidFill>
          <a:ln/>
        </p:spPr>
      </p:sp>
      <p:sp>
        <p:nvSpPr>
          <p:cNvPr id="19" name="Shape 14"/>
          <p:cNvSpPr/>
          <p:nvPr/>
        </p:nvSpPr>
        <p:spPr>
          <a:xfrm>
            <a:off x="6254496" y="196596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28816" y="224028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6"/>
          <p:cNvSpPr/>
          <p:nvPr/>
        </p:nvSpPr>
        <p:spPr>
          <a:xfrm>
            <a:off x="6528816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225856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28816" y="297180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528816" y="3657600"/>
            <a:ext cx="19385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доучиваем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8759952" y="3374136"/>
            <a:ext cx="283464" cy="292608"/>
          </a:xfrm>
          <a:prstGeom prst="rightArrow">
            <a:avLst/>
          </a:prstGeom>
          <a:solidFill>
            <a:srgbClr val="5B4FC4"/>
          </a:solidFill>
          <a:ln/>
        </p:spPr>
      </p:sp>
      <p:sp>
        <p:nvSpPr>
          <p:cNvPr id="26" name="Shape 20"/>
          <p:cNvSpPr/>
          <p:nvPr/>
        </p:nvSpPr>
        <p:spPr>
          <a:xfrm>
            <a:off x="9061704" y="196596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336024" y="2240280"/>
            <a:ext cx="502920" cy="50292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28" name="Text 22"/>
          <p:cNvSpPr/>
          <p:nvPr/>
        </p:nvSpPr>
        <p:spPr>
          <a:xfrm>
            <a:off x="9336024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1632" y="2258568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336024" y="297180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Gradio-сайт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9336024" y="3657600"/>
            <a:ext cx="19385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публичная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путь виден от начала до конца — никакого «а что дальше?».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8686800" y="6419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16 · Классификатор моих фото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ПРИЁМ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Аугментация: из одного фото — много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241E4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20299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Аналогия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14400" y="260604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тренер, который показывает мяч </a:t>
            </a:r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разными углами, при разном свете, вблизи и издалека</a:t>
            </a:r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чтобы ты узнавал его в любой ситуации, а не только на одной картинке.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6355080" y="1783080"/>
            <a:ext cx="5166360" cy="4160520"/>
          </a:xfrm>
          <a:prstGeom prst="roundRect">
            <a:avLst>
              <a:gd name="adj" fmla="val 1978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62940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 аугментация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675120" y="2606040"/>
            <a:ext cx="4617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повороты · отражения · приближение · яркость</a:t>
            </a:r>
            <a:endParaRPr lang="en-US" sz="1700" dirty="0"/>
          </a:p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фото превращаются в сотни примеров</a:t>
            </a:r>
            <a:endParaRPr lang="en-US" sz="17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учится лучше и не запоминает конкретные снимки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675120" y="5074920"/>
            <a:ext cx="4572000" cy="0"/>
          </a:xfrm>
          <a:prstGeom prst="line">
            <a:avLst/>
          </a:prstGeom>
          <a:noFill/>
          <a:ln w="12700">
            <a:solidFill>
              <a:srgbClr val="3A326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2578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78040" y="523036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фото  →  ~600 обучающих примеров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686800" y="6419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16 · Классификатор моих фото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МОДЕЛЬ ОБУЧИЛАСЬ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Каким должно быть фото — и каким нет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394960" cy="3794760"/>
          </a:xfrm>
          <a:prstGeom prst="roundRect">
            <a:avLst>
              <a:gd name="adj" fmla="val 2169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20299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960120" y="260604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разный фон</a:t>
            </a:r>
            <a:endParaRPr lang="en-US" sz="17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ракурсы</a:t>
            </a:r>
            <a:endParaRPr lang="en-US" sz="17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хороший свет, резко</a:t>
            </a:r>
            <a:endParaRPr lang="en-US" sz="17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 крупно и в центре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штук на каждый класс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126480" y="1783080"/>
            <a:ext cx="5394960" cy="3794760"/>
          </a:xfrm>
          <a:prstGeom prst="roundRect">
            <a:avLst>
              <a:gd name="adj" fmla="val 2169"/>
            </a:avLst>
          </a:prstGeom>
          <a:solidFill>
            <a:srgbClr val="241E4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1168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49440" y="20299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Плохо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6446520" y="260604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тот же фон — модель выучит ФОН</a:t>
            </a:r>
            <a:endParaRPr lang="en-US" sz="17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один ракурс</a:t>
            </a:r>
            <a:endParaRPr lang="en-US" sz="17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тёмные или размытые кадры</a:t>
            </a:r>
            <a:endParaRPr lang="en-US" sz="17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 крошечный в углу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фото на класс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640080" y="5715000"/>
            <a:ext cx="10881360" cy="548640"/>
          </a:xfrm>
          <a:prstGeom prst="roundRect">
            <a:avLst>
              <a:gd name="adj" fmla="val 15000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78815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3040" y="57150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плохих фото → сотни плохих примеров. </a:t>
            </a:r>
            <a:pPr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Аугментация усиливает данные, но не чинит плохие.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8686800" y="6419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16 · Классификатор моих фото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ПУБЛИКУЕМ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это просто «обёртка» вокруг модели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2834640" cy="1463040"/>
          </a:xfrm>
          <a:prstGeom prst="roundRect">
            <a:avLst>
              <a:gd name="adj" fmla="val 5625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9385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Твоя модель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68680" y="24231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predict(фото) → ответ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611880" y="2331720"/>
            <a:ext cx="685800" cy="292608"/>
          </a:xfrm>
          <a:prstGeom prst="rightArrow">
            <a:avLst/>
          </a:prstGeom>
          <a:solidFill>
            <a:srgbClr val="5B4FC4"/>
          </a:solidFill>
          <a:ln/>
        </p:spPr>
      </p:sp>
      <p:sp>
        <p:nvSpPr>
          <p:cNvPr id="10" name="Shape 6"/>
          <p:cNvSpPr/>
          <p:nvPr/>
        </p:nvSpPr>
        <p:spPr>
          <a:xfrm>
            <a:off x="4480560" y="1737360"/>
            <a:ext cx="4206240" cy="1463040"/>
          </a:xfrm>
          <a:prstGeom prst="roundRect">
            <a:avLst>
              <a:gd name="adj" fmla="val 5625"/>
            </a:avLst>
          </a:prstGeom>
          <a:solidFill>
            <a:srgbClr val="241E4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92024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12080" y="19385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Коробка Gradio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709160" y="24231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для фото  →  кнопка  →  ответ на экране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869680" y="2331720"/>
            <a:ext cx="640080" cy="292608"/>
          </a:xfrm>
          <a:prstGeom prst="rightArrow">
            <a:avLst/>
          </a:prstGeom>
          <a:solidFill>
            <a:srgbClr val="5B4FC4"/>
          </a:solidFill>
          <a:ln/>
        </p:spPr>
      </p:sp>
      <p:sp>
        <p:nvSpPr>
          <p:cNvPr id="15" name="Shape 10"/>
          <p:cNvSpPr/>
          <p:nvPr/>
        </p:nvSpPr>
        <p:spPr>
          <a:xfrm>
            <a:off x="9692640" y="1737360"/>
            <a:ext cx="1828800" cy="1463040"/>
          </a:xfrm>
          <a:prstGeom prst="roundRect">
            <a:avLst>
              <a:gd name="adj" fmla="val 5625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96596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378440" y="187452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со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ссылкой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40080" y="3337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не учит модель. Он только рисует вокруг неё простой сайт.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40080" y="388620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241E4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914400" y="40690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gr.Interface(fn=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inputs=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gr.Image()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outputs=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gr.Label()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).launch(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8B7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share=True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640080" y="525780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2" name="Text 16"/>
          <p:cNvSpPr/>
          <p:nvPr/>
        </p:nvSpPr>
        <p:spPr>
          <a:xfrm>
            <a:off x="841248" y="5120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fn=predict — твоя модель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383280" y="5257800"/>
            <a:ext cx="128016" cy="128016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24" name="Text 18"/>
          <p:cNvSpPr/>
          <p:nvPr/>
        </p:nvSpPr>
        <p:spPr>
          <a:xfrm>
            <a:off x="3584448" y="5120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gr.Image() — сюда фото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126480" y="5257800"/>
            <a:ext cx="128016" cy="128016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26" name="Text 20"/>
          <p:cNvSpPr/>
          <p:nvPr/>
        </p:nvSpPr>
        <p:spPr>
          <a:xfrm>
            <a:off x="6327648" y="5120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gr.Label() — ответ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8869680" y="5257800"/>
            <a:ext cx="128016" cy="128016"/>
          </a:xfrm>
          <a:prstGeom prst="ellipse">
            <a:avLst/>
          </a:prstGeom>
          <a:solidFill>
            <a:srgbClr val="8B7DF5"/>
          </a:solidFill>
          <a:ln/>
        </p:spPr>
      </p:sp>
      <p:sp>
        <p:nvSpPr>
          <p:cNvPr id="28" name="Text 22"/>
          <p:cNvSpPr/>
          <p:nvPr/>
        </p:nvSpPr>
        <p:spPr>
          <a:xfrm>
            <a:off x="9070848" y="5120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share=True — публичная ссылка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640080" y="5806440"/>
            <a:ext cx="10881360" cy="457200"/>
          </a:xfrm>
          <a:prstGeom prst="roundRect">
            <a:avLst>
              <a:gd name="adj" fmla="val 18000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85216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63040" y="58064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7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share=True</a:t>
            </a:r>
            <a:pPr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даёт публичную ссылку — открывается в браузере телефона родителей.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8686800" y="6419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16 · Классификатор моих фото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ОЦЕНИВАЕТСЯ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Рубрика · 10 баллов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874520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данные и категории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966960" y="2039112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241E42"/>
          </a:solidFill>
          <a:ln w="15875">
            <a:solidFill>
              <a:srgbClr val="27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966960" y="20391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40080" y="2788920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05840" y="2788920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Аугментация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966960" y="2953512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241E42"/>
          </a:solidFill>
          <a:ln w="15875">
            <a:solidFill>
              <a:srgbClr val="8B7D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966960" y="29535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40080" y="3703320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005840" y="3703320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(модель работает)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966960" y="3867912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241E42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66960" y="38679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40080" y="4617720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05840" y="4617720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Gradio + ссылка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966960" y="4782312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241E42"/>
          </a:solidFill>
          <a:ln w="15875">
            <a:solidFill>
              <a:srgbClr val="27D3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966960" y="47823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640080" y="5605272"/>
            <a:ext cx="10881360" cy="640080"/>
          </a:xfrm>
          <a:prstGeom prst="roundRect">
            <a:avLst>
              <a:gd name="adj" fmla="val 12857"/>
            </a:avLst>
          </a:prstGeom>
          <a:solidFill>
            <a:srgbClr val="241E4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0080" y="560527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9–10 отлично</a:t>
            </a:r>
            <a:pPr algn="ctr" indent="0" marL="0">
              <a:buNone/>
            </a:pPr>
            <a:r>
              <a:rPr lang="en-US" sz="17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 хорошо</a:t>
            </a:r>
            <a:pPr algn="ctr" indent="0" marL="0">
              <a:buNone/>
            </a:pPr>
            <a:r>
              <a:rPr lang="en-US" sz="17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7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зачёт</a:t>
            </a:r>
            <a:pPr algn="ctr" indent="0" marL="0">
              <a:buNone/>
            </a:pPr>
            <a:r>
              <a:rPr lang="en-US" sz="17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7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менее 5 — доработать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8686800" y="6419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16 · Классификатор моих фото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· ФИНАЛ ФАЗЫ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унесём с урока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241E4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5740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0200" y="1783080"/>
            <a:ext cx="9692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создал СВОЙ датасет</a:t>
            </a:r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обучил модель на своих фото и </a:t>
            </a:r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опубликовал рабочий ИИ-сайт.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640080" y="3429000"/>
            <a:ext cx="5394960" cy="2697480"/>
          </a:xfrm>
          <a:prstGeom prst="roundRect">
            <a:avLst>
              <a:gd name="adj" fmla="val 3051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57600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63040" y="3657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960120" y="425196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довести классификатор до рабочего состояния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оформить Gradio-интерфейс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сохранить публичную ссылку и показать дома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126480" y="3429000"/>
            <a:ext cx="5394960" cy="2697480"/>
          </a:xfrm>
          <a:prstGeom prst="roundRect">
            <a:avLst>
              <a:gd name="adj" fmla="val 3051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57600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9440" y="3657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Фаза 4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446520" y="42976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Большие языковые модели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как устроен ChatGPT — токены, внимание, галлюцинации.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8686800" y="6419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16 · Классификатор моих фото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2026-08-01T03:38:08Z</dcterms:created>
  <dcterms:modified xsi:type="dcterms:W3CDTF">2026-08-01T03:38:08Z</dcterms:modified>
</cp:coreProperties>
</file>