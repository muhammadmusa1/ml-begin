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13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  <Relationship Id="rId13" Type="http://schemas.openxmlformats.org/officeDocument/2006/relationships/slide" Target="slides/slide7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1554480"/>
            <a:ext cx="2743200" cy="1828800"/>
          </a:xfrm>
          <a:prstGeom prst="roundRect">
            <a:avLst>
              <a:gd name="adj" fmla="val 5000"/>
            </a:avLst>
          </a:prstGeom>
          <a:solidFill>
            <a:srgbClr val="2C2552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1554480"/>
            <a:ext cx="2743200" cy="411480"/>
          </a:xfrm>
          <a:prstGeom prst="roundRect">
            <a:avLst>
              <a:gd name="adj" fmla="val 22222"/>
            </a:avLst>
          </a:prstGeom>
          <a:solidFill>
            <a:srgbClr val="5B4FC4"/>
          </a:solidFill>
          <a:ln/>
        </p:spPr>
      </p:sp>
      <p:sp>
        <p:nvSpPr>
          <p:cNvPr id="4" name="Shape 2"/>
          <p:cNvSpPr/>
          <p:nvPr/>
        </p:nvSpPr>
        <p:spPr>
          <a:xfrm>
            <a:off x="9052560" y="1691640"/>
            <a:ext cx="137160" cy="137160"/>
          </a:xfrm>
          <a:prstGeom prst="ellipse">
            <a:avLst/>
          </a:prstGeom>
          <a:solidFill>
            <a:srgbClr val="FF7A8A"/>
          </a:solidFill>
          <a:ln/>
        </p:spPr>
      </p:sp>
      <p:sp>
        <p:nvSpPr>
          <p:cNvPr id="5" name="Shape 3"/>
          <p:cNvSpPr/>
          <p:nvPr/>
        </p:nvSpPr>
        <p:spPr>
          <a:xfrm>
            <a:off x="9281160" y="1691640"/>
            <a:ext cx="137160" cy="137160"/>
          </a:xfrm>
          <a:prstGeom prst="ellipse">
            <a:avLst/>
          </a:prstGeom>
          <a:solidFill>
            <a:srgbClr val="FFD36E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0" y="1691640"/>
            <a:ext cx="137160" cy="137160"/>
          </a:xfrm>
          <a:prstGeom prst="ellipse">
            <a:avLst/>
          </a:prstGeom>
          <a:solidFill>
            <a:srgbClr val="6EE7B7"/>
          </a:solidFill>
          <a:ln/>
        </p:spPr>
      </p:sp>
      <p:sp>
        <p:nvSpPr>
          <p:cNvPr id="7" name="Text 5"/>
          <p:cNvSpPr/>
          <p:nvPr/>
        </p:nvSpPr>
        <p:spPr>
          <a:xfrm>
            <a:off x="9052560" y="2148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my-app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 5 · НЕДЕЛЯ 10 · ДЕПЛОЙ · ПРОДУКТ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и деплой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594360" y="3108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за урок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9436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20 · 90 минут · Gradio + Hugging Face Spaces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ВОВЛЕЧЕНИЕ · 0–10 МИН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Временная ссылка vs настоящий сайт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10312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241E42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3774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share=True (урок 16)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92608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Временная ссылка — гаснет, когда закрываешь Colab.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46520" y="2103120"/>
            <a:ext cx="5150815" cy="3291840"/>
          </a:xfrm>
          <a:prstGeom prst="roundRect">
            <a:avLst>
              <a:gd name="adj" fmla="val 3333"/>
            </a:avLst>
          </a:prstGeom>
          <a:solidFill>
            <a:srgbClr val="2C2552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3774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Spaces (сегодня)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12280" y="292608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Постоянный сайт — живёт сам по себе по постоянному адресу.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20</a:t>
            </a:r>
            <a:endParaRPr lang="en-US" sz="1100" dirty="0"/>
          </a:p>
        </p:txBody>
      </p:sp>
      <p:sp>
        <p:nvSpPr>
          <p:cNvPr id="0" name="card"/>
          <p:cNvSpPr/>
          <p:nvPr/>
        </p:nvSpPr>
        <p:spPr>
          <a:xfrm>
            <a:off x="594360" y="5480000"/>
            <a:ext cx="11002975" cy="760000"/>
          </a:xfrm>
          <a:prstGeom prst="roundRect">
            <a:avLst>
              <a:gd name="adj" fmla="val 3333"/>
            </a:avLst>
          </a:prstGeom>
          <a:solidFill>
            <a:srgbClr val="2C2552"/>
          </a:solidFill>
          <a:ln/>
        </p:spPr>
      </p:sp>
      <p:sp>
        <p:nvSpPr>
          <p:cNvPr id="0" name="tb"/>
          <p:cNvSpPr/>
          <p:nvPr/>
        </p:nvSpPr>
        <p:spPr>
          <a:xfrm>
            <a:off x="900000" y="5555000"/>
            <a:ext cx="10400000" cy="64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ru-RU" sz="1100" b="1" dirty="0">
                <a:solidFill>
                  <a:srgbClr val="27D3EE"/>
                </a:solidFill>
                <a:latin typeface="Calibri" pitchFamily="34" charset="0"/>
              </a:rPr>
              <a:t>АНАЛОГИЯ · ЛИЧНАЯ СТРАНИЦА В СОЦСЕТИ</a:t>
            </a:r>
          </a:p>
          <a:p>
            <a:pPr indent="0" marL="0">
              <a:lnSpc>
                <a:spcPct val="118000"/>
              </a:lnSpc>
              <a:buNone/>
            </a:pPr>
            <a:r>
              <a:rPr lang="ru-RU" sz="1500" dirty="0">
                <a:solidFill>
                  <a:srgbClr val="D9D4F2"/>
                </a:solidFill>
                <a:latin typeface="Calibri" pitchFamily="34" charset="0"/>
              </a:rPr>
              <a:t>Постоянная ссылка — как твоя страница в соцсети: есть адрес, куда можно зайти в любой момент и показать друзьям. Временная так не умеет.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ТЕОРИЯ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Gradio: интерфейс из Python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2377440"/>
            <a:ext cx="3200400" cy="1645920"/>
          </a:xfrm>
          <a:prstGeom prst="roundRect">
            <a:avLst>
              <a:gd name="adj" fmla="val 6667"/>
            </a:avLst>
          </a:prstGeom>
          <a:solidFill>
            <a:srgbClr val="5B4FC4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6974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Функция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234440" y="32918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делает модель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43400" y="2377440"/>
            <a:ext cx="411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754880" y="2377440"/>
            <a:ext cx="3200400" cy="1645920"/>
          </a:xfrm>
          <a:prstGeom prst="roundRect">
            <a:avLst>
              <a:gd name="adj" fmla="val 6667"/>
            </a:avLst>
          </a:prstGeom>
          <a:solidFill>
            <a:srgbClr val="8B7DF5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26974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Входы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846320" y="32918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картинка / текст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55280" y="2377440"/>
            <a:ext cx="411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366760" y="2377440"/>
            <a:ext cx="3200400" cy="1645920"/>
          </a:xfrm>
          <a:prstGeom prst="roundRect">
            <a:avLst>
              <a:gd name="adj" fmla="val 6667"/>
            </a:avLst>
          </a:prstGeom>
          <a:solidFill>
            <a:srgbClr val="27D3EE"/>
          </a:solidFill>
          <a:ln/>
        </p:spPr>
      </p:sp>
      <p:sp>
        <p:nvSpPr>
          <p:cNvPr id="13" name="Text 11"/>
          <p:cNvSpPr/>
          <p:nvPr/>
        </p:nvSpPr>
        <p:spPr>
          <a:xfrm>
            <a:off x="8366760" y="26974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Выходы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58200" y="32918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модели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448056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9D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gr.Interface — и Gradio сам строит веб-страницу. Готовый код: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20</a:t>
            </a:r>
            <a:endParaRPr lang="en-US" sz="1100" dirty="0"/>
          </a:p>
        </p:txBody>
      </p:sp>
      <p:sp>
        <p:nvSpPr>
          <p:cNvPr id="0" name="card"/>
          <p:cNvSpPr/>
          <p:nvPr/>
        </p:nvSpPr>
        <p:spPr>
          <a:xfrm>
            <a:off x="594360" y="4920000"/>
            <a:ext cx="11002975" cy="1360000"/>
          </a:xfrm>
          <a:prstGeom prst="roundRect">
            <a:avLst>
              <a:gd name="adj" fmla="val 3333"/>
            </a:avLst>
          </a:prstGeom>
          <a:solidFill>
            <a:srgbClr val="14102E"/>
          </a:solidFill>
          <a:ln/>
        </p:spPr>
      </p:sp>
      <p:sp>
        <p:nvSpPr>
          <p:cNvPr id="0" name="tb"/>
          <p:cNvSpPr/>
          <p:nvPr/>
        </p:nvSpPr>
        <p:spPr>
          <a:xfrm>
            <a:off x="900000" y="5030000"/>
            <a:ext cx="10400000" cy="12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D9D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gradio as gr</a:t>
            </a:r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D9D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gr.Interface(</a:t>
            </a:r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D9D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fn=predict,          # функция-модель</a:t>
            </a:r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D9D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inputs=gr.Number(),  # что вводит пользователь</a:t>
            </a:r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D9D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outputs=gr.Label()   # что показываем</a:t>
            </a:r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D9D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).launch()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 для Hugging Face Spaces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3362858" cy="3108960"/>
          </a:xfrm>
          <a:prstGeom prst="roundRect">
            <a:avLst>
              <a:gd name="adj" fmla="val 3529"/>
            </a:avLst>
          </a:prstGeom>
          <a:solidFill>
            <a:srgbClr val="241E42"/>
          </a:solidFill>
          <a:ln/>
        </p:spPr>
      </p:sp>
      <p:sp>
        <p:nvSpPr>
          <p:cNvPr id="5" name="Shape 3"/>
          <p:cNvSpPr/>
          <p:nvPr/>
        </p:nvSpPr>
        <p:spPr>
          <a:xfrm>
            <a:off x="1910029" y="2514600"/>
            <a:ext cx="731520" cy="731520"/>
          </a:xfrm>
          <a:prstGeom prst="ellipse">
            <a:avLst/>
          </a:prstGeom>
          <a:solidFill>
            <a:srgbClr val="5B4FC4"/>
          </a:solidFill>
          <a:ln/>
        </p:spPr>
      </p:sp>
      <p:sp>
        <p:nvSpPr>
          <p:cNvPr id="6" name="Text 4"/>
          <p:cNvSpPr/>
          <p:nvPr/>
        </p:nvSpPr>
        <p:spPr>
          <a:xfrm>
            <a:off x="1910029" y="25146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411480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приложения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14418" y="2194560"/>
            <a:ext cx="3362858" cy="3108960"/>
          </a:xfrm>
          <a:prstGeom prst="roundRect">
            <a:avLst>
              <a:gd name="adj" fmla="val 3529"/>
            </a:avLst>
          </a:prstGeom>
          <a:solidFill>
            <a:srgbClr val="241E42"/>
          </a:solidFill>
          <a:ln/>
        </p:spPr>
      </p:sp>
      <p:sp>
        <p:nvSpPr>
          <p:cNvPr id="10" name="Shape 8"/>
          <p:cNvSpPr/>
          <p:nvPr/>
        </p:nvSpPr>
        <p:spPr>
          <a:xfrm>
            <a:off x="5730088" y="2514600"/>
            <a:ext cx="731520" cy="731520"/>
          </a:xfrm>
          <a:prstGeom prst="ellipse">
            <a:avLst/>
          </a:prstGeom>
          <a:solidFill>
            <a:srgbClr val="8B7DF5"/>
          </a:solidFill>
          <a:ln/>
        </p:spPr>
      </p:sp>
      <p:sp>
        <p:nvSpPr>
          <p:cNvPr id="11" name="Text 9"/>
          <p:cNvSpPr/>
          <p:nvPr/>
        </p:nvSpPr>
        <p:spPr>
          <a:xfrm>
            <a:off x="5730088" y="25146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51578" y="347472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requirements.txt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97298" y="411480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библиотек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34477" y="2194560"/>
            <a:ext cx="3362858" cy="3108960"/>
          </a:xfrm>
          <a:prstGeom prst="roundRect">
            <a:avLst>
              <a:gd name="adj" fmla="val 3529"/>
            </a:avLst>
          </a:prstGeom>
          <a:solidFill>
            <a:srgbClr val="2C2552"/>
          </a:solidFill>
          <a:ln/>
        </p:spPr>
      </p:sp>
      <p:sp>
        <p:nvSpPr>
          <p:cNvPr id="15" name="Shape 13"/>
          <p:cNvSpPr/>
          <p:nvPr/>
        </p:nvSpPr>
        <p:spPr>
          <a:xfrm>
            <a:off x="9550146" y="2514600"/>
            <a:ext cx="731520" cy="731520"/>
          </a:xfrm>
          <a:prstGeom prst="ellipse">
            <a:avLst/>
          </a:prstGeom>
          <a:solidFill>
            <a:srgbClr val="27D3EE"/>
          </a:solidFill>
          <a:ln/>
        </p:spPr>
      </p:sp>
      <p:sp>
        <p:nvSpPr>
          <p:cNvPr id="16" name="Text 14"/>
          <p:cNvSpPr/>
          <p:nvPr/>
        </p:nvSpPr>
        <p:spPr>
          <a:xfrm>
            <a:off x="9550146" y="25146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71637" y="347472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7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файл модели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17357" y="411480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есть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4360" y="5577840"/>
            <a:ext cx="110029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Загружаешь файлы — Space собирается сам и запускается.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шагов до постоянной ссылки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103120"/>
            <a:ext cx="11002975" cy="749808"/>
          </a:xfrm>
          <a:prstGeom prst="roundRect">
            <a:avLst>
              <a:gd name="adj" fmla="val 14634"/>
            </a:avLst>
          </a:prstGeom>
          <a:solidFill>
            <a:srgbClr val="2C2552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49424"/>
            <a:ext cx="457200" cy="457200"/>
          </a:xfrm>
          <a:prstGeom prst="ellipse">
            <a:avLst/>
          </a:prstGeom>
          <a:solidFill>
            <a:srgbClr val="5B4FC4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49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2203704"/>
            <a:ext cx="9722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Аккаунт на huggingface.co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4360" y="2944368"/>
            <a:ext cx="11002975" cy="749808"/>
          </a:xfrm>
          <a:prstGeom prst="roundRect">
            <a:avLst>
              <a:gd name="adj" fmla="val 14634"/>
            </a:avLst>
          </a:prstGeom>
          <a:solidFill>
            <a:srgbClr val="241E42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3090672"/>
            <a:ext cx="457200" cy="457200"/>
          </a:xfrm>
          <a:prstGeom prst="ellipse">
            <a:avLst/>
          </a:prstGeom>
          <a:solidFill>
            <a:srgbClr val="5B4FC4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00200" y="3044952"/>
            <a:ext cx="9722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Space → SDK: Gradio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94360" y="3785616"/>
            <a:ext cx="11002975" cy="749808"/>
          </a:xfrm>
          <a:prstGeom prst="roundRect">
            <a:avLst>
              <a:gd name="adj" fmla="val 14634"/>
            </a:avLst>
          </a:prstGeom>
          <a:solidFill>
            <a:srgbClr val="2C2552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3931920"/>
            <a:ext cx="457200" cy="457200"/>
          </a:xfrm>
          <a:prstGeom prst="ellipse">
            <a:avLst/>
          </a:prstGeom>
          <a:solidFill>
            <a:srgbClr val="5B4FC4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00200" y="3886200"/>
            <a:ext cx="9722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Загрузить app.py + requirements.txt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94360" y="4626864"/>
            <a:ext cx="11002975" cy="749808"/>
          </a:xfrm>
          <a:prstGeom prst="roundRect">
            <a:avLst>
              <a:gd name="adj" fmla="val 14634"/>
            </a:avLst>
          </a:prstGeom>
          <a:solidFill>
            <a:srgbClr val="241E42"/>
          </a:solidFill>
          <a:ln/>
        </p:spPr>
      </p:sp>
      <p:sp>
        <p:nvSpPr>
          <p:cNvPr id="17" name="Shape 15"/>
          <p:cNvSpPr/>
          <p:nvPr/>
        </p:nvSpPr>
        <p:spPr>
          <a:xfrm>
            <a:off x="868680" y="4773168"/>
            <a:ext cx="457200" cy="457200"/>
          </a:xfrm>
          <a:prstGeom prst="ellipse">
            <a:avLst/>
          </a:prstGeom>
          <a:solidFill>
            <a:srgbClr val="5B4FC4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7731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727448"/>
            <a:ext cx="9722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Дождаться сборки (Building → Running)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94360" y="5468112"/>
            <a:ext cx="11002975" cy="749808"/>
          </a:xfrm>
          <a:prstGeom prst="roundRect">
            <a:avLst>
              <a:gd name="adj" fmla="val 14634"/>
            </a:avLst>
          </a:prstGeom>
          <a:solidFill>
            <a:srgbClr val="2C2552"/>
          </a:solidFill>
          <a:ln/>
        </p:spPr>
      </p:sp>
      <p:sp>
        <p:nvSpPr>
          <p:cNvPr id="21" name="Shape 19"/>
          <p:cNvSpPr/>
          <p:nvPr/>
        </p:nvSpPr>
        <p:spPr>
          <a:xfrm>
            <a:off x="868680" y="5614416"/>
            <a:ext cx="457200" cy="457200"/>
          </a:xfrm>
          <a:prstGeom prst="ellipse">
            <a:avLst/>
          </a:prstGeom>
          <a:solidFill>
            <a:srgbClr val="27D3EE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6144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00200" y="5568696"/>
            <a:ext cx="9722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ссылку и поделиться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94360" y="6355080"/>
            <a:ext cx="110029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Ссылку можно отправить родителям прямо с урока.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· ФИНАЛ ФАЗЫ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унесём с урока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11002975" cy="1554480"/>
          </a:xfrm>
          <a:prstGeom prst="roundRect">
            <a:avLst>
              <a:gd name="adj" fmla="val 7059"/>
            </a:avLst>
          </a:prstGeom>
          <a:solidFill>
            <a:srgbClr val="2C2552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240280"/>
            <a:ext cx="1027145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 превратил модель в настоящий продукт — сайт по постоянной ссылке.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94360" y="3749040"/>
            <a:ext cx="5577840" cy="2103120"/>
          </a:xfrm>
          <a:prstGeom prst="roundRect">
            <a:avLst>
              <a:gd name="adj" fmla="val 5217"/>
            </a:avLst>
          </a:prstGeom>
          <a:solidFill>
            <a:srgbClr val="241E42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931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Домашнее задание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443484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Опубликовать приложение на Spaces, добавить название и описание, прислать ссылку.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46520" y="3749040"/>
            <a:ext cx="5150815" cy="2103120"/>
          </a:xfrm>
          <a:prstGeom prst="roundRect">
            <a:avLst>
              <a:gd name="adj" fmla="val 5217"/>
            </a:avLst>
          </a:prstGeom>
          <a:solidFill>
            <a:srgbClr val="2C2552"/>
          </a:solidFill>
          <a:ln/>
        </p:spPr>
      </p:sp>
      <p:sp>
        <p:nvSpPr>
          <p:cNvPr id="10" name="Text 8"/>
          <p:cNvSpPr/>
          <p:nvPr/>
        </p:nvSpPr>
        <p:spPr>
          <a:xfrm>
            <a:off x="6812280" y="3931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— Фаза 6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12280" y="4434840"/>
            <a:ext cx="45107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Финальный проект: своя задача от идеи до опубликованного приложения.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ЧАСТЫЕ ОШИБКИ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частые ошибки — и как избежать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3362858" cy="3108960"/>
          </a:xfrm>
          <a:prstGeom prst="roundRect">
            <a:avLst>
              <a:gd name="adj" fmla="val 3529"/>
            </a:avLst>
          </a:prstGeom>
          <a:solidFill>
            <a:srgbClr val="241E42"/>
          </a:solidFill>
          <a:ln/>
        </p:spPr>
      </p:sp>
      <p:sp>
        <p:nvSpPr>
          <p:cNvPr id="5" name="Shape 3"/>
          <p:cNvSpPr/>
          <p:nvPr/>
        </p:nvSpPr>
        <p:spPr>
          <a:xfrm>
            <a:off x="1910029" y="2514600"/>
            <a:ext cx="731520" cy="731520"/>
          </a:xfrm>
          <a:prstGeom prst="ellipse">
            <a:avLst/>
          </a:prstGeom>
          <a:solidFill>
            <a:srgbClr val="5B4FC4"/>
          </a:solidFill>
          <a:ln/>
        </p:spPr>
      </p:sp>
      <p:sp>
        <p:nvSpPr>
          <p:cNvPr id="6" name="Text 4"/>
          <p:cNvSpPr/>
          <p:nvPr/>
        </p:nvSpPr>
        <p:spPr>
          <a:xfrm>
            <a:off x="1910029" y="25146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Забыл библиотеку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411480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requirements.txt → сборка падает. Открой Logs.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14418" y="2194560"/>
            <a:ext cx="3362858" cy="3108960"/>
          </a:xfrm>
          <a:prstGeom prst="roundRect">
            <a:avLst>
              <a:gd name="adj" fmla="val 3529"/>
            </a:avLst>
          </a:prstGeom>
          <a:solidFill>
            <a:srgbClr val="241E42"/>
          </a:solidFill>
          <a:ln/>
        </p:spPr>
      </p:sp>
      <p:sp>
        <p:nvSpPr>
          <p:cNvPr id="10" name="Shape 8"/>
          <p:cNvSpPr/>
          <p:nvPr/>
        </p:nvSpPr>
        <p:spPr>
          <a:xfrm>
            <a:off x="5730088" y="2514600"/>
            <a:ext cx="731520" cy="731520"/>
          </a:xfrm>
          <a:prstGeom prst="ellipse">
            <a:avLst/>
          </a:prstGeom>
          <a:solidFill>
            <a:srgbClr val="8B7DF5"/>
          </a:solidFill>
          <a:ln/>
        </p:spPr>
      </p:sp>
      <p:sp>
        <p:nvSpPr>
          <p:cNvPr id="11" name="Text 9"/>
          <p:cNvSpPr/>
          <p:nvPr/>
        </p:nvSpPr>
        <p:spPr>
          <a:xfrm>
            <a:off x="5730088" y="25146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51578" y="347472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Оставил share=True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97298" y="411480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app.py — на Spaces он лишний.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34477" y="2194560"/>
            <a:ext cx="3362858" cy="3108960"/>
          </a:xfrm>
          <a:prstGeom prst="roundRect">
            <a:avLst>
              <a:gd name="adj" fmla="val 3529"/>
            </a:avLst>
          </a:prstGeom>
          <a:solidFill>
            <a:srgbClr val="2C2552"/>
          </a:solidFill>
          <a:ln/>
        </p:spPr>
      </p:sp>
      <p:sp>
        <p:nvSpPr>
          <p:cNvPr id="15" name="Shape 13"/>
          <p:cNvSpPr/>
          <p:nvPr/>
        </p:nvSpPr>
        <p:spPr>
          <a:xfrm>
            <a:off x="9550146" y="2514600"/>
            <a:ext cx="731520" cy="731520"/>
          </a:xfrm>
          <a:prstGeom prst="ellipse">
            <a:avLst/>
          </a:prstGeom>
          <a:solidFill>
            <a:srgbClr val="27D3EE"/>
          </a:solidFill>
          <a:ln/>
        </p:spPr>
      </p:sp>
      <p:sp>
        <p:nvSpPr>
          <p:cNvPr id="16" name="Text 14"/>
          <p:cNvSpPr/>
          <p:nvPr/>
        </p:nvSpPr>
        <p:spPr>
          <a:xfrm>
            <a:off x="9550146" y="25146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71637" y="347472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7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Загрузил не всё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17357" y="411480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забыл penguin_model.joblib рядом с кодом.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4360" y="5577840"/>
            <a:ext cx="110029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Спроси класс: что будет, если забыть requirements.txt? → библиотека не установится, сборка упадёт.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2026-07-06T17:35:21Z</dcterms:created>
  <dcterms:modified xsi:type="dcterms:W3CDTF">2026-07-06T17:35:21Z</dcterms:modified>
</cp:coreProperties>
</file>