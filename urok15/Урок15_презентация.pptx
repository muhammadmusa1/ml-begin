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37160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75564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2139696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523744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290779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329184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67588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9" name="Shape 7"/>
          <p:cNvSpPr/>
          <p:nvPr/>
        </p:nvSpPr>
        <p:spPr>
          <a:xfrm>
            <a:off x="9162288" y="137160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0" name="Shape 8"/>
          <p:cNvSpPr/>
          <p:nvPr/>
        </p:nvSpPr>
        <p:spPr>
          <a:xfrm>
            <a:off x="9162288" y="1755648"/>
            <a:ext cx="338328" cy="338328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11" name="Shape 9"/>
          <p:cNvSpPr/>
          <p:nvPr/>
        </p:nvSpPr>
        <p:spPr>
          <a:xfrm>
            <a:off x="9162288" y="2139696"/>
            <a:ext cx="338328" cy="338328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62288" y="2523744"/>
            <a:ext cx="338328" cy="338328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13" name="Shape 11"/>
          <p:cNvSpPr/>
          <p:nvPr/>
        </p:nvSpPr>
        <p:spPr>
          <a:xfrm>
            <a:off x="9162288" y="290779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62288" y="329184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5" name="Shape 13"/>
          <p:cNvSpPr/>
          <p:nvPr/>
        </p:nvSpPr>
        <p:spPr>
          <a:xfrm>
            <a:off x="9162288" y="367588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6" name="Shape 14"/>
          <p:cNvSpPr/>
          <p:nvPr/>
        </p:nvSpPr>
        <p:spPr>
          <a:xfrm>
            <a:off x="9546336" y="137160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7" name="Shape 15"/>
          <p:cNvSpPr/>
          <p:nvPr/>
        </p:nvSpPr>
        <p:spPr>
          <a:xfrm>
            <a:off x="9546336" y="1755648"/>
            <a:ext cx="338328" cy="338328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46336" y="2139696"/>
            <a:ext cx="338328" cy="338328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19" name="Shape 17"/>
          <p:cNvSpPr/>
          <p:nvPr/>
        </p:nvSpPr>
        <p:spPr>
          <a:xfrm>
            <a:off x="9546336" y="2523744"/>
            <a:ext cx="338328" cy="338328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9546336" y="290779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1" name="Shape 19"/>
          <p:cNvSpPr/>
          <p:nvPr/>
        </p:nvSpPr>
        <p:spPr>
          <a:xfrm>
            <a:off x="9546336" y="329184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2" name="Shape 20"/>
          <p:cNvSpPr/>
          <p:nvPr/>
        </p:nvSpPr>
        <p:spPr>
          <a:xfrm>
            <a:off x="9546336" y="367588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3" name="Shape 21"/>
          <p:cNvSpPr/>
          <p:nvPr/>
        </p:nvSpPr>
        <p:spPr>
          <a:xfrm>
            <a:off x="9930384" y="137160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4" name="Shape 22"/>
          <p:cNvSpPr/>
          <p:nvPr/>
        </p:nvSpPr>
        <p:spPr>
          <a:xfrm>
            <a:off x="9930384" y="1755648"/>
            <a:ext cx="338328" cy="338328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25" name="Shape 23"/>
          <p:cNvSpPr/>
          <p:nvPr/>
        </p:nvSpPr>
        <p:spPr>
          <a:xfrm>
            <a:off x="9930384" y="2139696"/>
            <a:ext cx="338328" cy="338328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9930384" y="2523744"/>
            <a:ext cx="338328" cy="338328"/>
          </a:xfrm>
          <a:prstGeom prst="rect">
            <a:avLst/>
          </a:prstGeom>
          <a:solidFill>
            <a:srgbClr val="27D3EE"/>
          </a:solidFill>
          <a:ln/>
        </p:spPr>
      </p:sp>
      <p:sp>
        <p:nvSpPr>
          <p:cNvPr id="27" name="Shape 25"/>
          <p:cNvSpPr/>
          <p:nvPr/>
        </p:nvSpPr>
        <p:spPr>
          <a:xfrm>
            <a:off x="9930384" y="290779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8" name="Shape 26"/>
          <p:cNvSpPr/>
          <p:nvPr/>
        </p:nvSpPr>
        <p:spPr>
          <a:xfrm>
            <a:off x="9930384" y="329184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9" name="Shape 27"/>
          <p:cNvSpPr/>
          <p:nvPr/>
        </p:nvSpPr>
        <p:spPr>
          <a:xfrm>
            <a:off x="9930384" y="367588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14432" y="137160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14432" y="175564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14432" y="2139696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3" name="Shape 31"/>
          <p:cNvSpPr/>
          <p:nvPr/>
        </p:nvSpPr>
        <p:spPr>
          <a:xfrm>
            <a:off x="10314432" y="2523744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4" name="Shape 32"/>
          <p:cNvSpPr/>
          <p:nvPr/>
        </p:nvSpPr>
        <p:spPr>
          <a:xfrm>
            <a:off x="10314432" y="290779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14432" y="329184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14432" y="367588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98480" y="137160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98480" y="175564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98480" y="2139696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98480" y="2523744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98480" y="290779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98480" y="329184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3" name="Shape 41"/>
          <p:cNvSpPr/>
          <p:nvPr/>
        </p:nvSpPr>
        <p:spPr>
          <a:xfrm>
            <a:off x="10698480" y="367588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82528" y="137160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82528" y="175564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82528" y="2139696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7" name="Shape 45"/>
          <p:cNvSpPr/>
          <p:nvPr/>
        </p:nvSpPr>
        <p:spPr>
          <a:xfrm>
            <a:off x="11082528" y="2523744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8" name="Shape 46"/>
          <p:cNvSpPr/>
          <p:nvPr/>
        </p:nvSpPr>
        <p:spPr>
          <a:xfrm>
            <a:off x="11082528" y="290779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9" name="Shape 47"/>
          <p:cNvSpPr/>
          <p:nvPr/>
        </p:nvSpPr>
        <p:spPr>
          <a:xfrm>
            <a:off x="11082528" y="329184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50" name="Shape 48"/>
          <p:cNvSpPr/>
          <p:nvPr/>
        </p:nvSpPr>
        <p:spPr>
          <a:xfrm>
            <a:off x="11082528" y="367588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51" name="Shape 49"/>
          <p:cNvSpPr/>
          <p:nvPr/>
        </p:nvSpPr>
        <p:spPr>
          <a:xfrm>
            <a:off x="9162288" y="1755648"/>
            <a:ext cx="1106424" cy="1106424"/>
          </a:xfrm>
          <a:prstGeom prst="rect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3 · НЕДЕЛЯ 8 · ГЛУБОКОЕ ОБУЧЕНИЕ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94360" y="20116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Свёрточные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 (CNN)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59436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ИИ учится видеть формы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59436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 · 90 минут · CNN + transfer learning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Фильтр-рамка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828800"/>
          </a:xfrm>
          <a:prstGeom prst="roundRect">
            <a:avLst>
              <a:gd name="adj" fmla="val 6000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Двигаем по картинке лист с вырезанным окошком 3×3.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971800"/>
            <a:ext cx="102714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каждый момент видно только маленький кусочек — окно скользит по всей картинке.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4206240"/>
            <a:ext cx="110029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сеть смотрела на все пиксели сразу. Свёртка смотрит окошком и скользит — так замечает узоры, где бы они ни были.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Свёртка = скользящий фильтр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377440"/>
            <a:ext cx="338328" cy="338328"/>
          </a:xfrm>
          <a:prstGeom prst="rect">
            <a:avLst/>
          </a:prstGeom>
          <a:solidFill>
            <a:srgbClr val="8B7D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761488"/>
            <a:ext cx="338328" cy="338328"/>
          </a:xfrm>
          <a:prstGeom prst="rect">
            <a:avLst/>
          </a:prstGeom>
          <a:solidFill>
            <a:srgbClr val="8B7DF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145536"/>
            <a:ext cx="338328" cy="338328"/>
          </a:xfrm>
          <a:prstGeom prst="rect">
            <a:avLst/>
          </a:prstGeom>
          <a:solidFill>
            <a:srgbClr val="8B7DF5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529584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391363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429768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0" name="Shape 8"/>
          <p:cNvSpPr/>
          <p:nvPr/>
        </p:nvSpPr>
        <p:spPr>
          <a:xfrm>
            <a:off x="1252728" y="2377440"/>
            <a:ext cx="338328" cy="338328"/>
          </a:xfrm>
          <a:prstGeom prst="rect">
            <a:avLst/>
          </a:prstGeom>
          <a:solidFill>
            <a:srgbClr val="8B7DF5"/>
          </a:solidFill>
          <a:ln/>
        </p:spPr>
      </p:sp>
      <p:sp>
        <p:nvSpPr>
          <p:cNvPr id="11" name="Shape 9"/>
          <p:cNvSpPr/>
          <p:nvPr/>
        </p:nvSpPr>
        <p:spPr>
          <a:xfrm>
            <a:off x="1252728" y="2761488"/>
            <a:ext cx="338328" cy="338328"/>
          </a:xfrm>
          <a:prstGeom prst="rect">
            <a:avLst/>
          </a:prstGeom>
          <a:solidFill>
            <a:srgbClr val="8B7D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252728" y="3145536"/>
            <a:ext cx="338328" cy="338328"/>
          </a:xfrm>
          <a:prstGeom prst="rect">
            <a:avLst/>
          </a:prstGeom>
          <a:solidFill>
            <a:srgbClr val="8B7DF5"/>
          </a:solidFill>
          <a:ln/>
        </p:spPr>
      </p:sp>
      <p:sp>
        <p:nvSpPr>
          <p:cNvPr id="13" name="Shape 11"/>
          <p:cNvSpPr/>
          <p:nvPr/>
        </p:nvSpPr>
        <p:spPr>
          <a:xfrm>
            <a:off x="1252728" y="3529584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252728" y="391363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5" name="Shape 13"/>
          <p:cNvSpPr/>
          <p:nvPr/>
        </p:nvSpPr>
        <p:spPr>
          <a:xfrm>
            <a:off x="1252728" y="429768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16" name="Shape 14"/>
          <p:cNvSpPr/>
          <p:nvPr/>
        </p:nvSpPr>
        <p:spPr>
          <a:xfrm>
            <a:off x="1636776" y="2377440"/>
            <a:ext cx="338328" cy="338328"/>
          </a:xfrm>
          <a:prstGeom prst="rect">
            <a:avLst/>
          </a:prstGeom>
          <a:solidFill>
            <a:srgbClr val="8B7DF5"/>
          </a:solidFill>
          <a:ln/>
        </p:spPr>
      </p:sp>
      <p:sp>
        <p:nvSpPr>
          <p:cNvPr id="17" name="Shape 15"/>
          <p:cNvSpPr/>
          <p:nvPr/>
        </p:nvSpPr>
        <p:spPr>
          <a:xfrm>
            <a:off x="1636776" y="2761488"/>
            <a:ext cx="338328" cy="338328"/>
          </a:xfrm>
          <a:prstGeom prst="rect">
            <a:avLst/>
          </a:prstGeom>
          <a:solidFill>
            <a:srgbClr val="8B7DF5"/>
          </a:solidFill>
          <a:ln/>
        </p:spPr>
      </p:sp>
      <p:sp>
        <p:nvSpPr>
          <p:cNvPr id="18" name="Shape 16"/>
          <p:cNvSpPr/>
          <p:nvPr/>
        </p:nvSpPr>
        <p:spPr>
          <a:xfrm>
            <a:off x="1636776" y="3145536"/>
            <a:ext cx="338328" cy="338328"/>
          </a:xfrm>
          <a:prstGeom prst="rect">
            <a:avLst/>
          </a:prstGeom>
          <a:solidFill>
            <a:srgbClr val="8B7DF5"/>
          </a:solidFill>
          <a:ln/>
        </p:spPr>
      </p:sp>
      <p:sp>
        <p:nvSpPr>
          <p:cNvPr id="19" name="Shape 17"/>
          <p:cNvSpPr/>
          <p:nvPr/>
        </p:nvSpPr>
        <p:spPr>
          <a:xfrm>
            <a:off x="1636776" y="3529584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0" name="Shape 18"/>
          <p:cNvSpPr/>
          <p:nvPr/>
        </p:nvSpPr>
        <p:spPr>
          <a:xfrm>
            <a:off x="1636776" y="391363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1" name="Shape 19"/>
          <p:cNvSpPr/>
          <p:nvPr/>
        </p:nvSpPr>
        <p:spPr>
          <a:xfrm>
            <a:off x="1636776" y="429768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2" name="Shape 20"/>
          <p:cNvSpPr/>
          <p:nvPr/>
        </p:nvSpPr>
        <p:spPr>
          <a:xfrm>
            <a:off x="2020824" y="237744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3" name="Shape 21"/>
          <p:cNvSpPr/>
          <p:nvPr/>
        </p:nvSpPr>
        <p:spPr>
          <a:xfrm>
            <a:off x="2020824" y="276148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4" name="Shape 22"/>
          <p:cNvSpPr/>
          <p:nvPr/>
        </p:nvSpPr>
        <p:spPr>
          <a:xfrm>
            <a:off x="2020824" y="3145536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5" name="Shape 23"/>
          <p:cNvSpPr/>
          <p:nvPr/>
        </p:nvSpPr>
        <p:spPr>
          <a:xfrm>
            <a:off x="2020824" y="3529584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6" name="Shape 24"/>
          <p:cNvSpPr/>
          <p:nvPr/>
        </p:nvSpPr>
        <p:spPr>
          <a:xfrm>
            <a:off x="2020824" y="391363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7" name="Shape 25"/>
          <p:cNvSpPr/>
          <p:nvPr/>
        </p:nvSpPr>
        <p:spPr>
          <a:xfrm>
            <a:off x="2020824" y="429768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8" name="Shape 26"/>
          <p:cNvSpPr/>
          <p:nvPr/>
        </p:nvSpPr>
        <p:spPr>
          <a:xfrm>
            <a:off x="2404872" y="237744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29" name="Shape 27"/>
          <p:cNvSpPr/>
          <p:nvPr/>
        </p:nvSpPr>
        <p:spPr>
          <a:xfrm>
            <a:off x="2404872" y="276148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0" name="Shape 28"/>
          <p:cNvSpPr/>
          <p:nvPr/>
        </p:nvSpPr>
        <p:spPr>
          <a:xfrm>
            <a:off x="2404872" y="3145536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1" name="Shape 29"/>
          <p:cNvSpPr/>
          <p:nvPr/>
        </p:nvSpPr>
        <p:spPr>
          <a:xfrm>
            <a:off x="2404872" y="3529584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2" name="Shape 30"/>
          <p:cNvSpPr/>
          <p:nvPr/>
        </p:nvSpPr>
        <p:spPr>
          <a:xfrm>
            <a:off x="2404872" y="391363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3" name="Shape 31"/>
          <p:cNvSpPr/>
          <p:nvPr/>
        </p:nvSpPr>
        <p:spPr>
          <a:xfrm>
            <a:off x="2404872" y="429768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4" name="Shape 32"/>
          <p:cNvSpPr/>
          <p:nvPr/>
        </p:nvSpPr>
        <p:spPr>
          <a:xfrm>
            <a:off x="2788920" y="237744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5" name="Shape 33"/>
          <p:cNvSpPr/>
          <p:nvPr/>
        </p:nvSpPr>
        <p:spPr>
          <a:xfrm>
            <a:off x="2788920" y="2761488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6" name="Shape 34"/>
          <p:cNvSpPr/>
          <p:nvPr/>
        </p:nvSpPr>
        <p:spPr>
          <a:xfrm>
            <a:off x="2788920" y="3145536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7" name="Shape 35"/>
          <p:cNvSpPr/>
          <p:nvPr/>
        </p:nvSpPr>
        <p:spPr>
          <a:xfrm>
            <a:off x="2788920" y="3529584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8" name="Shape 36"/>
          <p:cNvSpPr/>
          <p:nvPr/>
        </p:nvSpPr>
        <p:spPr>
          <a:xfrm>
            <a:off x="2788920" y="3913632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39" name="Shape 37"/>
          <p:cNvSpPr/>
          <p:nvPr/>
        </p:nvSpPr>
        <p:spPr>
          <a:xfrm>
            <a:off x="2788920" y="4297680"/>
            <a:ext cx="338328" cy="338328"/>
          </a:xfrm>
          <a:prstGeom prst="rect">
            <a:avLst/>
          </a:prstGeom>
          <a:solidFill>
            <a:srgbClr val="2C2552"/>
          </a:solidFill>
          <a:ln/>
        </p:spPr>
      </p:sp>
      <p:sp>
        <p:nvSpPr>
          <p:cNvPr id="40" name="Shape 38"/>
          <p:cNvSpPr/>
          <p:nvPr/>
        </p:nvSpPr>
        <p:spPr>
          <a:xfrm>
            <a:off x="868680" y="2377440"/>
            <a:ext cx="1106424" cy="1106424"/>
          </a:xfrm>
          <a:prstGeom prst="rect">
            <a:avLst/>
          </a:prstGeom>
          <a:ln w="31750">
            <a:solidFill>
              <a:srgbClr val="27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" y="4773168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картинка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47288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43" name="Shape 41"/>
          <p:cNvSpPr/>
          <p:nvPr/>
        </p:nvSpPr>
        <p:spPr>
          <a:xfrm>
            <a:off x="4361688" y="2743200"/>
            <a:ext cx="338328" cy="338328"/>
          </a:xfrm>
          <a:prstGeom prst="rect">
            <a:avLst/>
          </a:prstGeom>
          <a:solidFill>
            <a:srgbClr val="241E42"/>
          </a:solidFill>
          <a:ln/>
        </p:spPr>
      </p:sp>
      <p:sp>
        <p:nvSpPr>
          <p:cNvPr id="44" name="Shape 42"/>
          <p:cNvSpPr/>
          <p:nvPr/>
        </p:nvSpPr>
        <p:spPr>
          <a:xfrm>
            <a:off x="4361688" y="3127248"/>
            <a:ext cx="338328" cy="3383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5" name="Shape 43"/>
          <p:cNvSpPr/>
          <p:nvPr/>
        </p:nvSpPr>
        <p:spPr>
          <a:xfrm>
            <a:off x="4361688" y="3511296"/>
            <a:ext cx="338328" cy="338328"/>
          </a:xfrm>
          <a:prstGeom prst="rect">
            <a:avLst/>
          </a:prstGeom>
          <a:solidFill>
            <a:srgbClr val="241E42"/>
          </a:solidFill>
          <a:ln/>
        </p:spPr>
      </p:sp>
      <p:sp>
        <p:nvSpPr>
          <p:cNvPr id="46" name="Shape 44"/>
          <p:cNvSpPr/>
          <p:nvPr/>
        </p:nvSpPr>
        <p:spPr>
          <a:xfrm>
            <a:off x="4361688" y="3895344"/>
            <a:ext cx="338328" cy="3383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7" name="Shape 45"/>
          <p:cNvSpPr/>
          <p:nvPr/>
        </p:nvSpPr>
        <p:spPr>
          <a:xfrm>
            <a:off x="4745736" y="2743200"/>
            <a:ext cx="338328" cy="3383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8" name="Shape 46"/>
          <p:cNvSpPr/>
          <p:nvPr/>
        </p:nvSpPr>
        <p:spPr>
          <a:xfrm>
            <a:off x="4745736" y="3127248"/>
            <a:ext cx="338328" cy="338328"/>
          </a:xfrm>
          <a:prstGeom prst="rect">
            <a:avLst/>
          </a:prstGeom>
          <a:solidFill>
            <a:srgbClr val="241E42"/>
          </a:solidFill>
          <a:ln/>
        </p:spPr>
      </p:sp>
      <p:sp>
        <p:nvSpPr>
          <p:cNvPr id="49" name="Shape 47"/>
          <p:cNvSpPr/>
          <p:nvPr/>
        </p:nvSpPr>
        <p:spPr>
          <a:xfrm>
            <a:off x="4745736" y="3511296"/>
            <a:ext cx="338328" cy="3383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0" name="Shape 48"/>
          <p:cNvSpPr/>
          <p:nvPr/>
        </p:nvSpPr>
        <p:spPr>
          <a:xfrm>
            <a:off x="4745736" y="3895344"/>
            <a:ext cx="338328" cy="338328"/>
          </a:xfrm>
          <a:prstGeom prst="rect">
            <a:avLst/>
          </a:prstGeom>
          <a:solidFill>
            <a:srgbClr val="241E42"/>
          </a:solidFill>
          <a:ln/>
        </p:spPr>
      </p:sp>
      <p:sp>
        <p:nvSpPr>
          <p:cNvPr id="51" name="Shape 49"/>
          <p:cNvSpPr/>
          <p:nvPr/>
        </p:nvSpPr>
        <p:spPr>
          <a:xfrm>
            <a:off x="5129784" y="2743200"/>
            <a:ext cx="338328" cy="338328"/>
          </a:xfrm>
          <a:prstGeom prst="rect">
            <a:avLst/>
          </a:prstGeom>
          <a:solidFill>
            <a:srgbClr val="241E42"/>
          </a:solidFill>
          <a:ln/>
        </p:spPr>
      </p:sp>
      <p:sp>
        <p:nvSpPr>
          <p:cNvPr id="52" name="Shape 50"/>
          <p:cNvSpPr/>
          <p:nvPr/>
        </p:nvSpPr>
        <p:spPr>
          <a:xfrm>
            <a:off x="5129784" y="3127248"/>
            <a:ext cx="338328" cy="3383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3" name="Shape 51"/>
          <p:cNvSpPr/>
          <p:nvPr/>
        </p:nvSpPr>
        <p:spPr>
          <a:xfrm>
            <a:off x="5129784" y="3511296"/>
            <a:ext cx="338328" cy="338328"/>
          </a:xfrm>
          <a:prstGeom prst="rect">
            <a:avLst/>
          </a:prstGeom>
          <a:solidFill>
            <a:srgbClr val="241E42"/>
          </a:solidFill>
          <a:ln/>
        </p:spPr>
      </p:sp>
      <p:sp>
        <p:nvSpPr>
          <p:cNvPr id="54" name="Shape 52"/>
          <p:cNvSpPr/>
          <p:nvPr/>
        </p:nvSpPr>
        <p:spPr>
          <a:xfrm>
            <a:off x="5129784" y="3895344"/>
            <a:ext cx="338328" cy="3383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5" name="Shape 53"/>
          <p:cNvSpPr/>
          <p:nvPr/>
        </p:nvSpPr>
        <p:spPr>
          <a:xfrm>
            <a:off x="5513832" y="2743200"/>
            <a:ext cx="338328" cy="3383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6" name="Shape 54"/>
          <p:cNvSpPr/>
          <p:nvPr/>
        </p:nvSpPr>
        <p:spPr>
          <a:xfrm>
            <a:off x="5513832" y="3127248"/>
            <a:ext cx="338328" cy="338328"/>
          </a:xfrm>
          <a:prstGeom prst="rect">
            <a:avLst/>
          </a:prstGeom>
          <a:solidFill>
            <a:srgbClr val="241E42"/>
          </a:solidFill>
          <a:ln/>
        </p:spPr>
      </p:sp>
      <p:sp>
        <p:nvSpPr>
          <p:cNvPr id="57" name="Shape 55"/>
          <p:cNvSpPr/>
          <p:nvPr/>
        </p:nvSpPr>
        <p:spPr>
          <a:xfrm>
            <a:off x="5513832" y="3511296"/>
            <a:ext cx="338328" cy="3383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8" name="Shape 56"/>
          <p:cNvSpPr/>
          <p:nvPr/>
        </p:nvSpPr>
        <p:spPr>
          <a:xfrm>
            <a:off x="5513832" y="3895344"/>
            <a:ext cx="338328" cy="338328"/>
          </a:xfrm>
          <a:prstGeom prst="rect">
            <a:avLst/>
          </a:prstGeom>
          <a:solidFill>
            <a:srgbClr val="241E42"/>
          </a:solidFill>
          <a:ln/>
        </p:spPr>
      </p:sp>
      <p:sp>
        <p:nvSpPr>
          <p:cNvPr id="59" name="Text 57"/>
          <p:cNvSpPr/>
          <p:nvPr/>
        </p:nvSpPr>
        <p:spPr>
          <a:xfrm>
            <a:off x="3995928" y="437083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признаков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229600" y="2286000"/>
            <a:ext cx="3367735" cy="3291840"/>
          </a:xfrm>
          <a:prstGeom prst="roundRect">
            <a:avLst>
              <a:gd name="adj" fmla="val 3333"/>
            </a:avLst>
          </a:prstGeom>
          <a:solidFill>
            <a:srgbClr val="2C2552"/>
          </a:solidFill>
          <a:ln/>
        </p:spPr>
      </p:sp>
      <p:sp>
        <p:nvSpPr>
          <p:cNvPr id="61" name="Text 59"/>
          <p:cNvSpPr/>
          <p:nvPr/>
        </p:nvSpPr>
        <p:spPr>
          <a:xfrm>
            <a:off x="850392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8503920" y="3063240"/>
            <a:ext cx="281909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Маленький фильтр скользит по картинке и в каждой точке считает, насколько тут похоже на его узор (край, угол). Ярко там, где узор нашёлся.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Пулинг и иерархия признаков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Пулинг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Уменьшаем карту признаков — берём главное по окну. Сеть становится быстрее и устойчивее к сдвигам.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2011680"/>
            <a:ext cx="5150815" cy="3566160"/>
          </a:xfrm>
          <a:prstGeom prst="roundRect">
            <a:avLst>
              <a:gd name="adj" fmla="val 3077"/>
            </a:avLst>
          </a:prstGeom>
          <a:solidFill>
            <a:srgbClr val="241E4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8346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края
</a:t>
            </a:r>
            <a:endParaRPr lang="en-US" sz="1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
</a:t>
            </a:r>
            <a:endParaRPr lang="en-US" sz="19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(глаз, колесо)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12280" y="4937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Глубокие слои складывают простое в сложное.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 обычная сеть на картинках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сеть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 на все пиксели сразу, не знает, что они рядом. Сдвинул объект — путается.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2103120"/>
            <a:ext cx="5150815" cy="3291840"/>
          </a:xfrm>
          <a:prstGeom prst="roundRect">
            <a:avLst>
              <a:gd name="adj" fmla="val 3333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12280" y="29260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Ищет узор по всей картинке (скользит окном), учитывает соседство пикселей. Точнее на изображениях.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ЭКОНОМИМ ВРЕМЯ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37744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5B4FC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606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сеть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51560" y="3200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 — видел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миллионы картинок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51960" y="2377440"/>
            <a:ext cx="365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617720" y="237744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8B7DF5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606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Заморозить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800600" y="3200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переучиваем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заново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01000" y="2377440"/>
            <a:ext cx="365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366760" y="237744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27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606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«голова»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549640" y="3200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доучиваем под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свою задачу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4663440"/>
            <a:ext cx="110029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можно обучить классификатор всего на десятках картинок — как на следующем уроке.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Свёртка = скользящий фильтр, ищет узоры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Карты признаков + пулинг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Иерархия: края → формы → объекты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точнее обычной сети на картинках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экономит время и данные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Применить 2 фильтра (края и размытие)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CNN на CIFAR-10, сравнить с обычной сетью
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словами: что такое свёртка и почему CNN лучше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16: классификатор твоих фото + сайт.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2026-07-06T17:03:31Z</dcterms:created>
  <dcterms:modified xsi:type="dcterms:W3CDTF">2026-07-06T17:03:31Z</dcterms:modified>
</cp:coreProperties>
</file>