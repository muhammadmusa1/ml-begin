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8 · ГЛУБОКОЕ ОБУЧЕНИЕ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Свёрточные сети (CNN)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49808" y="3246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ИИ учится видеть — и почему узнаёт кота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угодно на фото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90 минут · свёртка → иерархия → transfer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89720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73768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57816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41864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25912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09960" y="187452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3768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7816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41864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25912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09960" y="225856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73768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57816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41864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25912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0" y="2642616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3768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57816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41864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25912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0" y="3026664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3768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57816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41864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25912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9960" y="3410712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73768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57816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41864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25912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9960" y="3794760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9720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73768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57816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41864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25912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9960" y="4178808"/>
            <a:ext cx="384048" cy="384048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57816" y="2642616"/>
            <a:ext cx="1152144" cy="1152144"/>
          </a:xfrm>
          <a:prstGeom prst="rect">
            <a:avLst/>
          </a:prstGeom>
          <a:ln w="38100">
            <a:solidFill>
              <a:srgbClr val="27D3EE"/>
            </a:solidFill>
            <a:prstDash val="solid"/>
          </a:ln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ты за полсекунды узнаёшь кота?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6583680" cy="2377440"/>
          </a:xfrm>
          <a:prstGeom prst="roundRect">
            <a:avLst>
              <a:gd name="adj" fmla="val 3462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не смотришь пиксель за пикселем.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сразу ищешь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приметы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усы, острые ушки, круглые глаза. И тебе всё равно, </a:t>
            </a:r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кот в кадре — слева, справа, в углу.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452360" y="1691640"/>
            <a:ext cx="4069080" cy="2377440"/>
          </a:xfrm>
          <a:prstGeom prst="roundRect">
            <a:avLst>
              <a:gd name="adj" fmla="val 3462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423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Свёрточная сеть делает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то же самое.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61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5371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ОЧЕРЕДЬ · рамка-фильтр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63040" y="498348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лист с вырезанным окошком 3×3 и двигаем по картинке кота. Спроси класс: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заметит окно, если под ним только небо? А если край уха?»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ВООБЩЕ НУЖНО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 привязана к месту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(полносвязная) сеть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на все пиксели сразу и запоминает каждый на СВОЁМ месте.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5296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6192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47088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57984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739896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25296" y="373989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36192" y="373989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47088" y="373989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57984" y="3739896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25296" y="4050792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36192" y="4050792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47088" y="4050792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57984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25296" y="4361688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36192" y="4361688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47088" y="4361688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57984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25296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536192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57984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074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узнала ✓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291840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02736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13632" y="3429000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24528" y="3429000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35424" y="3429000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91840" y="3739896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602736" y="3739896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913632" y="3739896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24528" y="373989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35424" y="373989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91840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02736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913632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24528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35424" y="4050792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291840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602736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913632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224528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35424" y="4361688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91840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602736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913632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224528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35424" y="4672584"/>
            <a:ext cx="310896" cy="310896"/>
          </a:xfrm>
          <a:prstGeom prst="rect">
            <a:avLst/>
          </a:prstGeom>
          <a:solidFill>
            <a:srgbClr val="2DD4BF">
              <a:alpha val="1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сдвинул — «?»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91440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кот в углу — для неё почти другая картинка. Путается.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6309360" y="173736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65960"/>
            <a:ext cx="502920" cy="502920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нужен способ искать примету</a:t>
            </a:r>
            <a:endParaRPr lang="en-US" sz="1900" dirty="0"/>
          </a:p>
        </p:txBody>
      </p:sp>
      <p:sp>
        <p:nvSpPr>
          <p:cNvPr id="64" name="Text 60"/>
          <p:cNvSpPr/>
          <p:nvPr/>
        </p:nvSpPr>
        <p:spPr>
          <a:xfrm>
            <a:off x="6583680" y="3154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на одном фиксированном месте.</a:t>
            </a:r>
            <a:endParaRPr lang="en-US" sz="3400" dirty="0"/>
          </a:p>
        </p:txBody>
      </p:sp>
      <p:sp>
        <p:nvSpPr>
          <p:cNvPr id="65" name="Shape 61"/>
          <p:cNvSpPr/>
          <p:nvPr/>
        </p:nvSpPr>
        <p:spPr>
          <a:xfrm>
            <a:off x="6583680" y="4343400"/>
            <a:ext cx="4572000" cy="0"/>
          </a:xfrm>
          <a:prstGeom prst="line">
            <a:avLst/>
          </a:prstGeom>
          <a:noFill/>
          <a:ln w="12700">
            <a:solidFill>
              <a:srgbClr val="3A3266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583680" y="4572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это ровно то, что делает </a:t>
            </a:r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</a:t>
            </a:r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000" dirty="0"/>
          </a:p>
        </p:txBody>
      </p:sp>
      <p:sp>
        <p:nvSpPr>
          <p:cNvPr id="67" name="Text 63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= детектор приметы, который скользит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маленький детектор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приметы: палочки, уголка, пятна.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скользит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всей картинке и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загорается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там, где свою примету нашёл.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9984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59168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88352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17536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0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01168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29984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59168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88352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17536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75904" y="234086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29984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59168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8352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17536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46720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75904" y="2670048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9984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59168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88352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17536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46720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75904" y="2999232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00800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29984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059168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88352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17536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46720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75904" y="3328416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059168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88352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17536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6720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75904" y="3657600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00800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729984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59168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88352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717536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046720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375904" y="3986784"/>
            <a:ext cx="329184" cy="329184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88352" y="2670048"/>
            <a:ext cx="987552" cy="987552"/>
          </a:xfrm>
          <a:prstGeom prst="rect">
            <a:avLst/>
          </a:prstGeom>
          <a:ln w="38100">
            <a:solidFill>
              <a:srgbClr val="27D3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00800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8915400" y="2788920"/>
            <a:ext cx="640080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60" name="Shape 57"/>
          <p:cNvSpPr/>
          <p:nvPr/>
        </p:nvSpPr>
        <p:spPr>
          <a:xfrm>
            <a:off x="9784080" y="2331720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094976" y="2331720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405872" y="2331720"/>
            <a:ext cx="310896" cy="310896"/>
          </a:xfrm>
          <a:prstGeom prst="rect">
            <a:avLst/>
          </a:prstGeom>
          <a:solidFill>
            <a:srgbClr val="2DD4BF">
              <a:alpha val="5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716768" y="2331720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027664" y="2331720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784080" y="2642616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094976" y="2642616"/>
            <a:ext cx="310896" cy="310896"/>
          </a:xfrm>
          <a:prstGeom prst="rect">
            <a:avLst/>
          </a:prstGeom>
          <a:solidFill>
            <a:srgbClr val="2DD4BF">
              <a:alpha val="5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405872" y="2642616"/>
            <a:ext cx="310896" cy="310896"/>
          </a:xfrm>
          <a:prstGeom prst="rect">
            <a:avLst/>
          </a:prstGeom>
          <a:solidFill>
            <a:srgbClr val="2DD4BF">
              <a:alpha val="9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716768" y="2642616"/>
            <a:ext cx="310896" cy="310896"/>
          </a:xfrm>
          <a:prstGeom prst="rect">
            <a:avLst/>
          </a:prstGeom>
          <a:solidFill>
            <a:srgbClr val="2DD4BF">
              <a:alpha val="5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1027664" y="2642616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784080" y="2953512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094976" y="2953512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405872" y="2953512"/>
            <a:ext cx="310896" cy="310896"/>
          </a:xfrm>
          <a:prstGeom prst="rect">
            <a:avLst/>
          </a:prstGeom>
          <a:solidFill>
            <a:srgbClr val="2DD4BF">
              <a:alpha val="55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716768" y="2953512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1027664" y="2953512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784080" y="3264408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094976" y="3264408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405872" y="3264408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0716768" y="3264408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1027664" y="3264408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784080" y="3575304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094976" y="3575304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405872" y="3575304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716768" y="3575304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1027664" y="3575304"/>
            <a:ext cx="310896" cy="310896"/>
          </a:xfrm>
          <a:prstGeom prst="rect">
            <a:avLst/>
          </a:prstGeom>
          <a:solidFill>
            <a:srgbClr val="2DD4BF">
              <a:alpha val="2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5097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признаков</a:t>
            </a:r>
            <a:endParaRPr lang="en-US" sz="1300" dirty="0"/>
          </a:p>
        </p:txBody>
      </p:sp>
      <p:sp>
        <p:nvSpPr>
          <p:cNvPr id="86" name="Shape 83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8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38928"/>
            <a:ext cx="384048" cy="384048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1463040" y="513892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САМ: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интерактивном демо двигай окно по картинке и смотри, как в реальном времени загорается карта признаков.</a:t>
            </a:r>
            <a:endParaRPr lang="en-US" sz="1600" dirty="0"/>
          </a:p>
        </p:txBody>
      </p:sp>
      <p:sp>
        <p:nvSpPr>
          <p:cNvPr id="89" name="Text 85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СВЁРТКИ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признаков — где примета встретилась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943600" cy="4206240"/>
          </a:xfrm>
          <a:prstGeom prst="roundRect">
            <a:avLst>
              <a:gd name="adj" fmla="val 1957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Пройдя всю картинку, фильтр оставляет карту: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ярко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там, где нашёл свою примету;
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темно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где приметы нет.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фильтр — одна карта.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фильтров — много карт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(усы, уголки, пятна цвета…). Каждый ищет своё.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4892040"/>
            <a:ext cx="5394960" cy="0"/>
          </a:xfrm>
          <a:prstGeom prst="line">
            <a:avLst/>
          </a:prstGeom>
          <a:noFill/>
          <a:ln w="12700">
            <a:solidFill>
              <a:srgbClr val="3A32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 (маленькая деталь):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слоями карту сжимают — берут главное по окошку, будто прищуриваются. Быстрее и не сбивает лёгкий сдвиг.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0" y="23317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944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78240" y="269748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78240" y="306324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4944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4672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78240" y="342900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944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8096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1248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78240" y="379476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4944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1520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4672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41248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778240" y="4160520"/>
            <a:ext cx="365760" cy="365760"/>
          </a:xfrm>
          <a:prstGeom prst="rect">
            <a:avLst/>
          </a:prstGeom>
          <a:solidFill>
            <a:srgbClr val="241E42"/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4944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9281160" y="3291840"/>
            <a:ext cx="640080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49" name="Shape 46"/>
          <p:cNvSpPr/>
          <p:nvPr/>
        </p:nvSpPr>
        <p:spPr>
          <a:xfrm>
            <a:off x="10104120" y="2514600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488168" y="2514600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872216" y="2514600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256264" y="2514600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104120" y="2898648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488168" y="2898648"/>
            <a:ext cx="384048" cy="384048"/>
          </a:xfrm>
          <a:prstGeom prst="rect">
            <a:avLst/>
          </a:prstGeom>
          <a:solidFill>
            <a:srgbClr val="2DD4BF">
              <a:alpha val="5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872216" y="2898648"/>
            <a:ext cx="384048" cy="384048"/>
          </a:xfrm>
          <a:prstGeom prst="rect">
            <a:avLst/>
          </a:prstGeom>
          <a:solidFill>
            <a:srgbClr val="2DD4BF">
              <a:alpha val="5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256264" y="2898648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104120" y="3282696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488168" y="3282696"/>
            <a:ext cx="384048" cy="384048"/>
          </a:xfrm>
          <a:prstGeom prst="rect">
            <a:avLst/>
          </a:prstGeom>
          <a:solidFill>
            <a:srgbClr val="2DD4BF">
              <a:alpha val="5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872216" y="3282696"/>
            <a:ext cx="384048" cy="384048"/>
          </a:xfrm>
          <a:prstGeom prst="rect">
            <a:avLst/>
          </a:prstGeom>
          <a:solidFill>
            <a:srgbClr val="2DD4BF">
              <a:alpha val="51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1256264" y="3282696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104120" y="3666744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488168" y="3666744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872216" y="3666744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1256264" y="3666744"/>
            <a:ext cx="384048" cy="384048"/>
          </a:xfrm>
          <a:prstGeom prst="rect">
            <a:avLst/>
          </a:prstGeom>
          <a:solidFill>
            <a:srgbClr val="2DD4BF">
              <a:alpha val="19000"/>
            </a:srgbClr>
          </a:solidFill>
          <a:ln w="9525">
            <a:solidFill>
              <a:srgbClr val="3A326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7840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признаков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ПРИМЕТЫ СКЛАДЫВАЮТСЯ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простого — сложное: слой за слоем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391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1 — простое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палочки</a:t>
            </a:r>
            <a:endParaRPr lang="en-US" sz="16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уголки</a:t>
            </a:r>
            <a:endParaRPr lang="en-US" sz="16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пятна цвета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базовые приметы. Их сеть находит первыми.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41648" y="3319272"/>
            <a:ext cx="283464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178308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0391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части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7720" y="25603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острое ушко</a:t>
            </a:r>
            <a:endParaRPr lang="en-US" sz="16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круглый глаз</a:t>
            </a:r>
            <a:endParaRPr lang="en-US" sz="16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нос-треугольник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17720" y="4297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Палочки и уголки складываются в узнаваемые части.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44968" y="3319272"/>
            <a:ext cx="283464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15" name="Shape 12"/>
          <p:cNvSpPr/>
          <p:nvPr/>
        </p:nvSpPr>
        <p:spPr>
          <a:xfrm>
            <a:off x="8046720" y="178308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21040" y="20391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3 — объект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21040" y="25603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морда кота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21040" y="4297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частей собирается целое. Теперь сеть «видит» кота.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5321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55321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программировал «ушко» вручную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сеть сама составила его из палочек и уголков. В этом вся сила глубоких слоёв.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CNN точнее на картинках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на все пиксели сразу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знает, что пиксели рядом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Сдвинул объект — путается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параметров, легко переобучается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62940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примету по всей картинке (скользит окном)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соседство пикселей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Сдвинул объект — всё равно находит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параметров — точнее на изображениях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ЭКОНОМИМ ВРЕМЯ И ДАННЫЕ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не растим «глаза» с нуля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9202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 друга, который уже пересмотрел миллионы картинок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отлично видит приметы. Ты не учишь его видеть заново — просто показываешь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вид объектов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он быстро схватывает.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352044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76472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1640" y="38130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сеть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097280" y="4434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— видел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картинок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096512" y="4302252"/>
            <a:ext cx="356616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13" name="Shape 8"/>
          <p:cNvSpPr/>
          <p:nvPr/>
        </p:nvSpPr>
        <p:spPr>
          <a:xfrm>
            <a:off x="4526280" y="352044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77647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38130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Заморозить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4800600" y="4434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переучиваем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заново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799832" y="4302252"/>
            <a:ext cx="356616" cy="310896"/>
          </a:xfrm>
          <a:prstGeom prst="rightArrow">
            <a:avLst/>
          </a:prstGeom>
          <a:solidFill>
            <a:srgbClr val="8B7DF5"/>
          </a:solidFill>
          <a:ln/>
        </p:spPr>
      </p:sp>
      <p:sp>
        <p:nvSpPr>
          <p:cNvPr id="18" name="Shape 12"/>
          <p:cNvSpPr/>
          <p:nvPr/>
        </p:nvSpPr>
        <p:spPr>
          <a:xfrm>
            <a:off x="8229600" y="352044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77647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98280" y="38130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«голова»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8503920" y="4434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доучиваем под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свою задачу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классификатор учится на </a:t>
            </a:r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десятках</a:t>
            </a:r>
            <a:pPr algn="ctr"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картинок, а не миллионах — как на уроке 16.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943600" cy="4297680"/>
          </a:xfrm>
          <a:prstGeom prst="roundRect">
            <a:avLst>
              <a:gd name="adj" fmla="val 1915"/>
            </a:avLst>
          </a:prstGeom>
          <a:solidFill>
            <a:srgbClr val="2C255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главные мысли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= детектор приметы, который скользит и ищет её везде на картинке.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54480" y="3657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Приметы складываются: палочки → части → объект. Это иерархия.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5448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экономит время: берём готовые «глаза» и доучиваем.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12280" y="1783080"/>
            <a:ext cx="4709160" cy="4297680"/>
          </a:xfrm>
          <a:prstGeom prst="roundRect">
            <a:avLst>
              <a:gd name="adj" fmla="val 1915"/>
            </a:avLst>
          </a:prstGeom>
          <a:solidFill>
            <a:srgbClr val="241E42"/>
          </a:solidFill>
          <a:ln/>
          <a:effectLst>
            <a:outerShdw sx="100000" sy="100000" kx="0" ky="0" algn="bl" rotWithShape="0" blurRad="101600" dist="38100" dir="5400000">
              <a:srgbClr val="0A0817">
                <a:alpha val="4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116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352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132320" y="265176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 2 фильтра (края и размытие) к своей картинке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CNN на CIFAR-10 и сравнить с обычной сетью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словами: что такое свёртка — на примере «как узнаёшь кота»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132320" y="5074920"/>
            <a:ext cx="4023360" cy="0"/>
          </a:xfrm>
          <a:prstGeom prst="line">
            <a:avLst/>
          </a:prstGeom>
          <a:noFill/>
          <a:ln w="12700">
            <a:solidFill>
              <a:srgbClr val="3A32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32320" y="5257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16: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ТВОИХ фото + сайт на Gradio.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CNN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2026-08-01T03:26:33Z</dcterms:created>
  <dcterms:modified xsi:type="dcterms:W3CDTF">2026-08-01T03:26:33Z</dcterms:modified>
</cp:coreProperties>
</file>